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My name is [Name] and today I'll be presenting my project: the Seaport Management System — a web application built to digitize and centralize port operations. This presentation will take about 5 to 10 minutes, covering the objective, features, technology stack, database design, and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Ports generate a constant stream of activity — ships arriving, cargo being unloaded, docks changing status. Without a central system, this is often tracked manually, which makes it slow to answer simple questions like 'which dock is free' or 'where is this shipment now.' My objective was to replace that manual process with a single web application that centralizes ships, docks, cargo, and arrivals, with proper validation and instant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covers six core capabilities: ship management, dock management, and cargo management each support full create, read, update, and delete operations. Arrival tracking ties a ship, a dock, and a cargo record together with arrival and departure dates and a status. There's search and filtering for quickly finding records, and the management pages sit behind a login so only authorized staff can make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uses a standard two-tier web architecture. The frontend is a React 19 single-page app built with Vite, using React Router for navigation and route guarding, and Axios to call the API. The backend is an ASP.NET Core 8 Web API — I used raw ADO.NET with Microsoft.Data.SqlClient rather than an ORM, writing parameterized SQL directly, which also protects against SQL injection. Swagger is enabled so the API is self-documenting and testable. The database is Microsoft SQL Server with four related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has four tables. Ships, Docks, and Cargo each hold their own attributes — for example Ships stores capacity, flag country, and status. Arrivals is the linking table: it references a ShipID, DockID, and CargoID together with arrival date, departure date, status, and notes, which is how the system represents 'this ship brought this cargo and docked here on this date.' Since I'm not using an ORM, referential integrity — like preventing deletion of a ship that still has arrival records — is enforced in the controller code before each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live demo, I'll walk through a typical workflow: log in, register a ship, create a dock, log a cargo record, then create an arrival that links all three together with dates and a status, and finally show the report view that pulls it all together. I can also open the Swagger UI to show the underlying API endpoints directly if the committee would like to see the request/response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the presentation. To summarize: the Seaport Management System centralizes ship, dock, cargo, and arrival tracking into one validated web application, built with React, ASP.NET Core, and SQL Server. I'm happy to take any questions from the committee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778240" y="1828800"/>
            <a:ext cx="3840480" cy="3840480"/>
          </a:xfrm>
          <a:prstGeom prst="rect">
            <a:avLst/>
          </a:prstGeom>
        </p:spPr>
      </p:pic>
      <p:pic>
        <p:nvPicPr>
          <p:cNvPr id="3" name="Image 1" descr="preencoded.png">    </p:cNvPr>
          <p:cNvPicPr>
            <a:picLocks noChangeAspect="1"/>
          </p:cNvPicPr>
          <p:nvPr/>
        </p:nvPicPr>
        <p:blipFill>
          <a:blip r:embed="rId2"/>
          <a:stretch>
            <a:fillRect/>
          </a:stretch>
        </p:blipFill>
        <p:spPr>
          <a:xfrm>
            <a:off x="822960" y="1417320"/>
            <a:ext cx="566928" cy="566928"/>
          </a:xfrm>
          <a:prstGeom prst="rect">
            <a:avLst/>
          </a:prstGeom>
        </p:spPr>
      </p:pic>
      <p:sp>
        <p:nvSpPr>
          <p:cNvPr id="4" name="Text 0"/>
          <p:cNvSpPr/>
          <p:nvPr/>
        </p:nvSpPr>
        <p:spPr>
          <a:xfrm>
            <a:off x="1508760" y="1417320"/>
            <a:ext cx="5486400" cy="566928"/>
          </a:xfrm>
          <a:prstGeom prst="rect">
            <a:avLst/>
          </a:prstGeom>
          <a:noFill/>
          <a:ln/>
        </p:spPr>
        <p:txBody>
          <a:bodyPr wrap="square" lIns="0" tIns="0" rIns="0" bIns="0" rtlCol="0" anchor="ctr"/>
          <a:lstStyle/>
          <a:p>
            <a:pPr indent="0" marL="0">
              <a:buNone/>
            </a:pPr>
            <a:r>
              <a:rPr lang="en-US" sz="1400" b="1" spc="300" kern="0" dirty="0">
                <a:solidFill>
                  <a:srgbClr val="8FB8CE"/>
                </a:solidFill>
                <a:latin typeface="Calibri" pitchFamily="34" charset="0"/>
                <a:ea typeface="Calibri" pitchFamily="34" charset="-122"/>
                <a:cs typeface="Calibri" pitchFamily="34" charset="-120"/>
              </a:rPr>
              <a:t>PORT OPERATIONS PLATFORM</a:t>
            </a:r>
            <a:endParaRPr lang="en-US" sz="1400" dirty="0"/>
          </a:p>
        </p:txBody>
      </p:sp>
      <p:sp>
        <p:nvSpPr>
          <p:cNvPr id="5" name="Text 1"/>
          <p:cNvSpPr/>
          <p:nvPr/>
        </p:nvSpPr>
        <p:spPr>
          <a:xfrm>
            <a:off x="822960" y="2148840"/>
            <a:ext cx="8686800" cy="13716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Seaport Management System</a:t>
            </a:r>
            <a:endParaRPr lang="en-US" sz="4400" dirty="0"/>
          </a:p>
        </p:txBody>
      </p:sp>
      <p:sp>
        <p:nvSpPr>
          <p:cNvPr id="6" name="Text 2"/>
          <p:cNvSpPr/>
          <p:nvPr/>
        </p:nvSpPr>
        <p:spPr>
          <a:xfrm>
            <a:off x="822960" y="3337560"/>
            <a:ext cx="7589520" cy="822960"/>
          </a:xfrm>
          <a:prstGeom prst="rect">
            <a:avLst/>
          </a:prstGeom>
          <a:noFill/>
          <a:ln/>
        </p:spPr>
        <p:txBody>
          <a:bodyPr wrap="square" lIns="0" tIns="0" rIns="0" bIns="0" rtlCol="0" anchor="t"/>
          <a:lstStyle/>
          <a:p>
            <a:pPr indent="0" marL="0">
              <a:buNone/>
            </a:pPr>
            <a:r>
              <a:rPr lang="en-US" sz="1700" dirty="0">
                <a:solidFill>
                  <a:srgbClr val="C7DCE6"/>
                </a:solidFill>
                <a:latin typeface="Calibri" pitchFamily="34" charset="0"/>
                <a:ea typeface="Calibri" pitchFamily="34" charset="-122"/>
                <a:cs typeface="Calibri" pitchFamily="34" charset="-120"/>
              </a:rPr>
              <a:t>A centralized web application for tracking ships, docks, cargo, and arrivals in real time</a:t>
            </a:r>
            <a:endParaRPr lang="en-US" sz="1700" dirty="0"/>
          </a:p>
        </p:txBody>
      </p:sp>
      <p:sp>
        <p:nvSpPr>
          <p:cNvPr id="7" name="Text 3"/>
          <p:cNvSpPr/>
          <p:nvPr/>
        </p:nvSpPr>
        <p:spPr>
          <a:xfrm>
            <a:off x="822960" y="5806440"/>
            <a:ext cx="8229600" cy="640080"/>
          </a:xfrm>
          <a:prstGeom prst="rect">
            <a:avLst/>
          </a:prstGeom>
          <a:noFill/>
          <a:ln/>
        </p:spPr>
        <p:txBody>
          <a:bodyPr wrap="square" lIns="0" tIns="0" rIns="0" bIns="0" rtlCol="0" anchor="ctr"/>
          <a:lstStyle/>
          <a:p>
            <a:pPr indent="0" marL="0">
              <a:buNone/>
            </a:pPr>
            <a:r>
              <a:rPr lang="en-US" sz="1300" b="1" dirty="0">
                <a:solidFill>
                  <a:srgbClr val="9FB6C6"/>
                </a:solidFill>
                <a:latin typeface="Calibri" pitchFamily="34" charset="0"/>
                <a:ea typeface="Calibri" pitchFamily="34" charset="-122"/>
                <a:cs typeface="Calibri" pitchFamily="34" charset="-120"/>
              </a:rPr>
              <a:t>Final Year Project Defense</a:t>
            </a:r>
            <a:endParaRPr lang="en-US" sz="1300" dirty="0"/>
          </a:p>
          <a:p>
            <a:pPr indent="0" marL="0">
              <a:buNone/>
            </a:pPr>
            <a:r>
              <a:rPr lang="en-US" sz="1300" dirty="0">
                <a:solidFill>
                  <a:srgbClr val="9FB6C6"/>
                </a:solidFill>
                <a:latin typeface="Calibri" pitchFamily="34" charset="0"/>
                <a:ea typeface="Calibri" pitchFamily="34" charset="-122"/>
                <a:cs typeface="Calibri" pitchFamily="34" charset="-120"/>
              </a:rPr>
              <a:t>Student Name  |  Supervisor Name  |  Department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64008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Project Objective</a:t>
            </a:r>
            <a:endParaRPr lang="en-US" sz="3200" dirty="0"/>
          </a:p>
        </p:txBody>
      </p:sp>
      <p:sp>
        <p:nvSpPr>
          <p:cNvPr id="3" name="Text 1"/>
          <p:cNvSpPr/>
          <p:nvPr/>
        </p:nvSpPr>
        <p:spPr>
          <a:xfrm>
            <a:off x="640080" y="1097280"/>
            <a:ext cx="8229600" cy="365760"/>
          </a:xfrm>
          <a:prstGeom prst="rect">
            <a:avLst/>
          </a:prstGeom>
          <a:noFill/>
          <a:ln/>
        </p:spPr>
        <p:txBody>
          <a:bodyPr wrap="square" lIns="0" tIns="0" rIns="0" bIns="0" rtlCol="0" anchor="ctr"/>
          <a:lstStyle/>
          <a:p>
            <a:pPr indent="0" marL="0">
              <a:buNone/>
            </a:pPr>
            <a:r>
              <a:rPr lang="en-US" sz="1500" dirty="0">
                <a:solidFill>
                  <a:srgbClr val="5A7184"/>
                </a:solidFill>
                <a:latin typeface="Calibri" pitchFamily="34" charset="0"/>
                <a:ea typeface="Calibri" pitchFamily="34" charset="-122"/>
                <a:cs typeface="Calibri" pitchFamily="34" charset="-120"/>
              </a:rPr>
              <a:t>Why a Seaport Management System?</a:t>
            </a:r>
            <a:endParaRPr lang="en-US" sz="1500" dirty="0"/>
          </a:p>
        </p:txBody>
      </p:sp>
      <p:sp>
        <p:nvSpPr>
          <p:cNvPr id="4" name="Shape 2"/>
          <p:cNvSpPr/>
          <p:nvPr/>
        </p:nvSpPr>
        <p:spPr>
          <a:xfrm>
            <a:off x="640080" y="1920240"/>
            <a:ext cx="5212080" cy="4114800"/>
          </a:xfrm>
          <a:prstGeom prst="roundRect">
            <a:avLst>
              <a:gd name="adj" fmla="val 2667"/>
            </a:avLst>
          </a:prstGeom>
          <a:solidFill>
            <a:srgbClr val="F4F7F9"/>
          </a:solidFill>
          <a:ln/>
          <a:effectLst>
            <a:outerShdw sx="100000" sy="100000" kx="0" ky="0" algn="bl" rotWithShape="0" blurRad="101600" dist="38100" dir="5400000">
              <a:srgbClr val="000000">
                <a:alpha val="10000"/>
              </a:srgbClr>
            </a:outerShdw>
          </a:effectLst>
        </p:spPr>
      </p:sp>
      <p:sp>
        <p:nvSpPr>
          <p:cNvPr id="5" name="Text 3"/>
          <p:cNvSpPr/>
          <p:nvPr/>
        </p:nvSpPr>
        <p:spPr>
          <a:xfrm>
            <a:off x="1005840" y="2240280"/>
            <a:ext cx="4572000" cy="36576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PROBLEM</a:t>
            </a:r>
            <a:endParaRPr lang="en-US" sz="1300" dirty="0"/>
          </a:p>
        </p:txBody>
      </p:sp>
      <p:sp>
        <p:nvSpPr>
          <p:cNvPr id="6" name="Text 4"/>
          <p:cNvSpPr/>
          <p:nvPr/>
        </p:nvSpPr>
        <p:spPr>
          <a:xfrm>
            <a:off x="1005840" y="2743200"/>
            <a:ext cx="4572000" cy="3017520"/>
          </a:xfrm>
          <a:prstGeom prst="rect">
            <a:avLst/>
          </a:prstGeom>
          <a:noFill/>
          <a:ln/>
        </p:spPr>
        <p:txBody>
          <a:bodyPr wrap="square" lIns="0" tIns="0" rIns="0" bIns="0" rtlCol="0" anchor="ctr"/>
          <a:lstStyle/>
          <a:p>
            <a:pPr marL="342900" indent="-342900">
              <a:lnSpc>
                <a:spcPct val="115000"/>
              </a:lnSpc>
              <a:spcAft>
                <a:spcPts val="1400"/>
              </a:spcAft>
              <a:buSzPct val="100000"/>
              <a:buChar char="•"/>
            </a:pPr>
            <a:r>
              <a:rPr lang="en-US" sz="1500" dirty="0">
                <a:solidFill>
                  <a:srgbClr val="1B2733"/>
                </a:solidFill>
                <a:latin typeface="Calibri" pitchFamily="34" charset="0"/>
                <a:ea typeface="Calibri" pitchFamily="34" charset="-122"/>
                <a:cs typeface="Calibri" pitchFamily="34" charset="-120"/>
              </a:rPr>
              <a:t>Ship arrivals, dock assignments, and cargo records are tracked manually or in scattered spreadsheets</a:t>
            </a:r>
            <a:endParaRPr lang="en-US" sz="1500" dirty="0"/>
          </a:p>
          <a:p>
            <a:pPr marL="342900" indent="-342900">
              <a:lnSpc>
                <a:spcPct val="115000"/>
              </a:lnSpc>
              <a:spcAft>
                <a:spcPts val="1400"/>
              </a:spcAft>
              <a:buSzPct val="100000"/>
              <a:buChar char="•"/>
            </a:pPr>
            <a:r>
              <a:rPr lang="en-US" sz="1500" dirty="0">
                <a:solidFill>
                  <a:srgbClr val="1B2733"/>
                </a:solidFill>
                <a:latin typeface="Calibri" pitchFamily="34" charset="0"/>
                <a:ea typeface="Calibri" pitchFamily="34" charset="-122"/>
                <a:cs typeface="Calibri" pitchFamily="34" charset="-120"/>
              </a:rPr>
              <a:t>No single source of truth — hard to check dock availability or cargo status quickly</a:t>
            </a:r>
            <a:endParaRPr lang="en-US" sz="1500" dirty="0"/>
          </a:p>
          <a:p>
            <a:pPr marL="342900" indent="-342900">
              <a:lnSpc>
                <a:spcPct val="115000"/>
              </a:lnSpc>
              <a:buSzPct val="100000"/>
              <a:buChar char="•"/>
            </a:pPr>
            <a:r>
              <a:rPr lang="en-US" sz="1500" dirty="0">
                <a:solidFill>
                  <a:srgbClr val="1B2733"/>
                </a:solidFill>
                <a:latin typeface="Calibri" pitchFamily="34" charset="0"/>
                <a:ea typeface="Calibri" pitchFamily="34" charset="-122"/>
                <a:cs typeface="Calibri" pitchFamily="34" charset="-120"/>
              </a:rPr>
              <a:t>Manual records are error-prone and slow to search or report on</a:t>
            </a:r>
            <a:endParaRPr lang="en-US" sz="1500" dirty="0"/>
          </a:p>
        </p:txBody>
      </p:sp>
      <p:sp>
        <p:nvSpPr>
          <p:cNvPr id="7" name="Shape 5"/>
          <p:cNvSpPr/>
          <p:nvPr/>
        </p:nvSpPr>
        <p:spPr>
          <a:xfrm>
            <a:off x="6309360" y="1920240"/>
            <a:ext cx="5212080" cy="4114800"/>
          </a:xfrm>
          <a:prstGeom prst="roundRect">
            <a:avLst>
              <a:gd name="adj" fmla="val 2667"/>
            </a:avLst>
          </a:prstGeom>
          <a:solidFill>
            <a:srgbClr val="065A82"/>
          </a:solidFill>
          <a:ln/>
          <a:effectLst>
            <a:outerShdw sx="100000" sy="100000" kx="0" ky="0" algn="bl" rotWithShape="0" blurRad="101600" dist="38100" dir="5400000">
              <a:srgbClr val="000000">
                <a:alpha val="15000"/>
              </a:srgbClr>
            </a:outerShdw>
          </a:effectLst>
        </p:spPr>
      </p:sp>
      <p:sp>
        <p:nvSpPr>
          <p:cNvPr id="8" name="Text 6"/>
          <p:cNvSpPr/>
          <p:nvPr/>
        </p:nvSpPr>
        <p:spPr>
          <a:xfrm>
            <a:off x="6675120" y="2240280"/>
            <a:ext cx="4572000" cy="365760"/>
          </a:xfrm>
          <a:prstGeom prst="rect">
            <a:avLst/>
          </a:prstGeom>
          <a:noFill/>
          <a:ln/>
        </p:spPr>
        <p:txBody>
          <a:bodyPr wrap="square" lIns="0" tIns="0" rIns="0" bIns="0" rtlCol="0" anchor="ctr"/>
          <a:lstStyle/>
          <a:p>
            <a:pPr indent="0" marL="0">
              <a:buNone/>
            </a:pPr>
            <a:r>
              <a:rPr lang="en-US" sz="1300" b="1" spc="200" kern="0" dirty="0">
                <a:solidFill>
                  <a:srgbClr val="9FD5EA"/>
                </a:solidFill>
                <a:latin typeface="Calibri" pitchFamily="34" charset="0"/>
                <a:ea typeface="Calibri" pitchFamily="34" charset="-122"/>
                <a:cs typeface="Calibri" pitchFamily="34" charset="-120"/>
              </a:rPr>
              <a:t>THE OBJECTIVE</a:t>
            </a:r>
            <a:endParaRPr lang="en-US" sz="1300" dirty="0"/>
          </a:p>
        </p:txBody>
      </p:sp>
      <p:sp>
        <p:nvSpPr>
          <p:cNvPr id="9" name="Text 7"/>
          <p:cNvSpPr/>
          <p:nvPr/>
        </p:nvSpPr>
        <p:spPr>
          <a:xfrm>
            <a:off x="6675120" y="2743200"/>
            <a:ext cx="4572000" cy="1920240"/>
          </a:xfrm>
          <a:prstGeom prst="rect">
            <a:avLst/>
          </a:prstGeom>
          <a:noFill/>
          <a:ln/>
        </p:spPr>
        <p:txBody>
          <a:bodyPr wrap="square" lIns="0" tIns="0" rIns="0" bIns="0" rtlCol="0" anchor="ctr"/>
          <a:lstStyle/>
          <a:p>
            <a:pPr indent="0" marL="0">
              <a:lnSpc>
                <a:spcPct val="120000"/>
              </a:lnSpc>
              <a:buNone/>
            </a:pPr>
            <a:r>
              <a:rPr lang="en-US" sz="1550" dirty="0">
                <a:solidFill>
                  <a:srgbClr val="FFFFFF"/>
                </a:solidFill>
                <a:latin typeface="Calibri" pitchFamily="34" charset="0"/>
                <a:ea typeface="Calibri" pitchFamily="34" charset="-122"/>
                <a:cs typeface="Calibri" pitchFamily="34" charset="-120"/>
              </a:rPr>
              <a:t>Build a centralized, web-based system that lets port staff record and monitor ships, docks, cargo, and arrival/departure activity from one place — in real time, with validated data entry and instant search.</a:t>
            </a:r>
            <a:endParaRPr lang="en-US" sz="1550" dirty="0"/>
          </a:p>
        </p:txBody>
      </p:sp>
      <p:pic>
        <p:nvPicPr>
          <p:cNvPr id="10" name="Image 0" descr="preencoded.png">    </p:cNvPr>
          <p:cNvPicPr>
            <a:picLocks noChangeAspect="1"/>
          </p:cNvPicPr>
          <p:nvPr/>
        </p:nvPicPr>
        <p:blipFill>
          <a:blip r:embed="rId1"/>
          <a:stretch>
            <a:fillRect/>
          </a:stretch>
        </p:blipFill>
        <p:spPr>
          <a:xfrm>
            <a:off x="6675120" y="4983480"/>
            <a:ext cx="502920" cy="502920"/>
          </a:xfrm>
          <a:prstGeom prst="rect">
            <a:avLst/>
          </a:prstGeom>
        </p:spPr>
      </p:pic>
      <p:sp>
        <p:nvSpPr>
          <p:cNvPr id="11" name="Text 8"/>
          <p:cNvSpPr/>
          <p:nvPr/>
        </p:nvSpPr>
        <p:spPr>
          <a:xfrm>
            <a:off x="7315200" y="4983480"/>
            <a:ext cx="3840480" cy="502920"/>
          </a:xfrm>
          <a:prstGeom prst="rect">
            <a:avLst/>
          </a:prstGeom>
          <a:noFill/>
          <a:ln/>
        </p:spPr>
        <p:txBody>
          <a:bodyPr wrap="square" lIns="0" tIns="0" rIns="0" bIns="0" rtlCol="0" anchor="ctr"/>
          <a:lstStyle/>
          <a:p>
            <a:pPr indent="0" marL="0">
              <a:buNone/>
            </a:pPr>
            <a:r>
              <a:rPr lang="en-US" sz="1350" i="1" dirty="0">
                <a:solidFill>
                  <a:srgbClr val="CDE6F2"/>
                </a:solidFill>
                <a:latin typeface="Calibri" pitchFamily="34" charset="0"/>
                <a:ea typeface="Calibri" pitchFamily="34" charset="-122"/>
                <a:cs typeface="Calibri" pitchFamily="34" charset="-120"/>
              </a:rPr>
              <a:t>One system. Every vessel, dock, and shipment.</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4F8"/>
        </a:solidFill>
      </p:bgPr>
    </p:bg>
    <p:spTree>
      <p:nvGrpSpPr>
        <p:cNvPr id="1" name=""/>
        <p:cNvGrpSpPr/>
        <p:nvPr/>
      </p:nvGrpSpPr>
      <p:grpSpPr>
        <a:xfrm>
          <a:off x="0" y="0"/>
          <a:ext cx="0" cy="0"/>
          <a:chOff x="0" y="0"/>
          <a:chExt cx="0" cy="0"/>
        </a:xfrm>
      </p:grpSpPr>
      <p:sp>
        <p:nvSpPr>
          <p:cNvPr id="2" name="Text 0"/>
          <p:cNvSpPr/>
          <p:nvPr/>
        </p:nvSpPr>
        <p:spPr>
          <a:xfrm>
            <a:off x="640080" y="502920"/>
            <a:ext cx="8229600" cy="64008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System Features</a:t>
            </a:r>
            <a:endParaRPr lang="en-US" sz="3200" dirty="0"/>
          </a:p>
        </p:txBody>
      </p:sp>
      <p:sp>
        <p:nvSpPr>
          <p:cNvPr id="3" name="Text 1"/>
          <p:cNvSpPr/>
          <p:nvPr/>
        </p:nvSpPr>
        <p:spPr>
          <a:xfrm>
            <a:off x="640080" y="1097280"/>
            <a:ext cx="8229600" cy="365760"/>
          </a:xfrm>
          <a:prstGeom prst="rect">
            <a:avLst/>
          </a:prstGeom>
          <a:noFill/>
          <a:ln/>
        </p:spPr>
        <p:txBody>
          <a:bodyPr wrap="square" lIns="0" tIns="0" rIns="0" bIns="0" rtlCol="0" anchor="ctr"/>
          <a:lstStyle/>
          <a:p>
            <a:pPr indent="0" marL="0">
              <a:buNone/>
            </a:pPr>
            <a:r>
              <a:rPr lang="en-US" sz="1500" dirty="0">
                <a:solidFill>
                  <a:srgbClr val="5A7184"/>
                </a:solidFill>
                <a:latin typeface="Calibri" pitchFamily="34" charset="0"/>
                <a:ea typeface="Calibri" pitchFamily="34" charset="-122"/>
                <a:cs typeface="Calibri" pitchFamily="34" charset="-120"/>
              </a:rPr>
              <a:t>Core capabilities available to port staff</a:t>
            </a:r>
            <a:endParaRPr lang="en-US" sz="1500" dirty="0"/>
          </a:p>
        </p:txBody>
      </p:sp>
      <p:sp>
        <p:nvSpPr>
          <p:cNvPr id="4" name="Shape 2"/>
          <p:cNvSpPr/>
          <p:nvPr/>
        </p:nvSpPr>
        <p:spPr>
          <a:xfrm>
            <a:off x="640080" y="1874520"/>
            <a:ext cx="3413760" cy="1943100"/>
          </a:xfrm>
          <a:prstGeom prst="roundRect">
            <a:avLst>
              <a:gd name="adj" fmla="val 4706"/>
            </a:avLst>
          </a:prstGeom>
          <a:solidFill>
            <a:srgbClr val="FFFFFF"/>
          </a:solidFill>
          <a:ln/>
          <a:effectLst>
            <a:outerShdw sx="100000" sy="100000" kx="0" ky="0" algn="bl" rotWithShape="0" blurRad="88900" dist="25400" dir="5400000">
              <a:srgbClr val="000000">
                <a:alpha val="8000"/>
              </a:srgbClr>
            </a:outerShdw>
          </a:effectLst>
        </p:spPr>
      </p:sp>
      <p:sp>
        <p:nvSpPr>
          <p:cNvPr id="5" name="Shape 3"/>
          <p:cNvSpPr/>
          <p:nvPr/>
        </p:nvSpPr>
        <p:spPr>
          <a:xfrm>
            <a:off x="960120" y="2167128"/>
            <a:ext cx="566928" cy="566928"/>
          </a:xfrm>
          <a:prstGeom prst="ellipse">
            <a:avLst/>
          </a:prstGeom>
          <a:solidFill>
            <a:srgbClr val="1C7293"/>
          </a:solidFill>
          <a:ln/>
        </p:spPr>
      </p:sp>
      <p:pic>
        <p:nvPicPr>
          <p:cNvPr id="6" name="Image 0" descr="preencoded.png">    </p:cNvPr>
          <p:cNvPicPr>
            <a:picLocks noChangeAspect="1"/>
          </p:cNvPicPr>
          <p:nvPr/>
        </p:nvPicPr>
        <p:blipFill>
          <a:blip r:embed="rId1"/>
          <a:stretch>
            <a:fillRect/>
          </a:stretch>
        </p:blipFill>
        <p:spPr>
          <a:xfrm>
            <a:off x="1097280" y="2304288"/>
            <a:ext cx="292608" cy="292608"/>
          </a:xfrm>
          <a:prstGeom prst="rect">
            <a:avLst/>
          </a:prstGeom>
        </p:spPr>
      </p:pic>
      <p:sp>
        <p:nvSpPr>
          <p:cNvPr id="7" name="Text 4"/>
          <p:cNvSpPr/>
          <p:nvPr/>
        </p:nvSpPr>
        <p:spPr>
          <a:xfrm>
            <a:off x="960120" y="2862072"/>
            <a:ext cx="2773680" cy="36576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Ship Management</a:t>
            </a:r>
            <a:endParaRPr lang="en-US" sz="1550" dirty="0"/>
          </a:p>
        </p:txBody>
      </p:sp>
      <p:sp>
        <p:nvSpPr>
          <p:cNvPr id="8" name="Text 5"/>
          <p:cNvSpPr/>
          <p:nvPr/>
        </p:nvSpPr>
        <p:spPr>
          <a:xfrm>
            <a:off x="960120" y="3246120"/>
            <a:ext cx="2773680" cy="434340"/>
          </a:xfrm>
          <a:prstGeom prst="rect">
            <a:avLst/>
          </a:prstGeom>
          <a:noFill/>
          <a:ln/>
        </p:spPr>
        <p:txBody>
          <a:bodyPr wrap="square" lIns="0" tIns="0" rIns="0" bIns="0" rtlCol="0" anchor="ctr"/>
          <a:lstStyle/>
          <a:p>
            <a:pPr indent="0" marL="0">
              <a:lnSpc>
                <a:spcPct val="115000"/>
              </a:lnSpc>
              <a:buNone/>
            </a:pPr>
            <a:r>
              <a:rPr lang="en-US" sz="1250" dirty="0">
                <a:solidFill>
                  <a:srgbClr val="5A7184"/>
                </a:solidFill>
                <a:latin typeface="Calibri" pitchFamily="34" charset="0"/>
                <a:ea typeface="Calibri" pitchFamily="34" charset="-122"/>
                <a:cs typeface="Calibri" pitchFamily="34" charset="-120"/>
              </a:rPr>
              <a:t>Register ships with capacity, flag, owner, and operational status</a:t>
            </a:r>
            <a:endParaRPr lang="en-US" sz="1250" dirty="0"/>
          </a:p>
        </p:txBody>
      </p:sp>
      <p:sp>
        <p:nvSpPr>
          <p:cNvPr id="9" name="Shape 6"/>
          <p:cNvSpPr/>
          <p:nvPr/>
        </p:nvSpPr>
        <p:spPr>
          <a:xfrm>
            <a:off x="4373880" y="1874520"/>
            <a:ext cx="3413760" cy="1943100"/>
          </a:xfrm>
          <a:prstGeom prst="roundRect">
            <a:avLst>
              <a:gd name="adj" fmla="val 4706"/>
            </a:avLst>
          </a:prstGeom>
          <a:solidFill>
            <a:srgbClr val="FFFFFF"/>
          </a:solidFill>
          <a:ln/>
          <a:effectLst>
            <a:outerShdw sx="100000" sy="100000" kx="0" ky="0" algn="bl" rotWithShape="0" blurRad="88900" dist="25400" dir="5400000">
              <a:srgbClr val="000000">
                <a:alpha val="8000"/>
              </a:srgbClr>
            </a:outerShdw>
          </a:effectLst>
        </p:spPr>
      </p:sp>
      <p:sp>
        <p:nvSpPr>
          <p:cNvPr id="10" name="Shape 7"/>
          <p:cNvSpPr/>
          <p:nvPr/>
        </p:nvSpPr>
        <p:spPr>
          <a:xfrm>
            <a:off x="4693920" y="2167128"/>
            <a:ext cx="566928" cy="566928"/>
          </a:xfrm>
          <a:prstGeom prst="ellipse">
            <a:avLst/>
          </a:prstGeom>
          <a:solidFill>
            <a:srgbClr val="1C7293"/>
          </a:solidFill>
          <a:ln/>
        </p:spPr>
      </p:sp>
      <p:pic>
        <p:nvPicPr>
          <p:cNvPr id="11" name="Image 1" descr="preencoded.png">    </p:cNvPr>
          <p:cNvPicPr>
            <a:picLocks noChangeAspect="1"/>
          </p:cNvPicPr>
          <p:nvPr/>
        </p:nvPicPr>
        <p:blipFill>
          <a:blip r:embed="rId2"/>
          <a:stretch>
            <a:fillRect/>
          </a:stretch>
        </p:blipFill>
        <p:spPr>
          <a:xfrm>
            <a:off x="4831080" y="2304288"/>
            <a:ext cx="292608" cy="292608"/>
          </a:xfrm>
          <a:prstGeom prst="rect">
            <a:avLst/>
          </a:prstGeom>
        </p:spPr>
      </p:pic>
      <p:sp>
        <p:nvSpPr>
          <p:cNvPr id="12" name="Text 8"/>
          <p:cNvSpPr/>
          <p:nvPr/>
        </p:nvSpPr>
        <p:spPr>
          <a:xfrm>
            <a:off x="4693920" y="2862072"/>
            <a:ext cx="2773680" cy="36576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Dock Management</a:t>
            </a:r>
            <a:endParaRPr lang="en-US" sz="1550" dirty="0"/>
          </a:p>
        </p:txBody>
      </p:sp>
      <p:sp>
        <p:nvSpPr>
          <p:cNvPr id="13" name="Text 9"/>
          <p:cNvSpPr/>
          <p:nvPr/>
        </p:nvSpPr>
        <p:spPr>
          <a:xfrm>
            <a:off x="4693920" y="3246120"/>
            <a:ext cx="2773680" cy="434340"/>
          </a:xfrm>
          <a:prstGeom prst="rect">
            <a:avLst/>
          </a:prstGeom>
          <a:noFill/>
          <a:ln/>
        </p:spPr>
        <p:txBody>
          <a:bodyPr wrap="square" lIns="0" tIns="0" rIns="0" bIns="0" rtlCol="0" anchor="ctr"/>
          <a:lstStyle/>
          <a:p>
            <a:pPr indent="0" marL="0">
              <a:lnSpc>
                <a:spcPct val="115000"/>
              </a:lnSpc>
              <a:buNone/>
            </a:pPr>
            <a:r>
              <a:rPr lang="en-US" sz="1250" dirty="0">
                <a:solidFill>
                  <a:srgbClr val="5A7184"/>
                </a:solidFill>
                <a:latin typeface="Calibri" pitchFamily="34" charset="0"/>
                <a:ea typeface="Calibri" pitchFamily="34" charset="-122"/>
                <a:cs typeface="Calibri" pitchFamily="34" charset="-120"/>
              </a:rPr>
              <a:t>Track dock number, location, capacity, type, and availability</a:t>
            </a:r>
            <a:endParaRPr lang="en-US" sz="1250" dirty="0"/>
          </a:p>
        </p:txBody>
      </p:sp>
      <p:sp>
        <p:nvSpPr>
          <p:cNvPr id="14" name="Shape 10"/>
          <p:cNvSpPr/>
          <p:nvPr/>
        </p:nvSpPr>
        <p:spPr>
          <a:xfrm>
            <a:off x="8107680" y="1874520"/>
            <a:ext cx="3413760" cy="1943100"/>
          </a:xfrm>
          <a:prstGeom prst="roundRect">
            <a:avLst>
              <a:gd name="adj" fmla="val 4706"/>
            </a:avLst>
          </a:prstGeom>
          <a:solidFill>
            <a:srgbClr val="FFFFFF"/>
          </a:solidFill>
          <a:ln/>
          <a:effectLst>
            <a:outerShdw sx="100000" sy="100000" kx="0" ky="0" algn="bl" rotWithShape="0" blurRad="88900" dist="25400" dir="5400000">
              <a:srgbClr val="000000">
                <a:alpha val="8000"/>
              </a:srgbClr>
            </a:outerShdw>
          </a:effectLst>
        </p:spPr>
      </p:sp>
      <p:sp>
        <p:nvSpPr>
          <p:cNvPr id="15" name="Shape 11"/>
          <p:cNvSpPr/>
          <p:nvPr/>
        </p:nvSpPr>
        <p:spPr>
          <a:xfrm>
            <a:off x="8427720" y="2167128"/>
            <a:ext cx="566928" cy="566928"/>
          </a:xfrm>
          <a:prstGeom prst="ellipse">
            <a:avLst/>
          </a:prstGeom>
          <a:solidFill>
            <a:srgbClr val="1C7293"/>
          </a:solidFill>
          <a:ln/>
        </p:spPr>
      </p:sp>
      <p:pic>
        <p:nvPicPr>
          <p:cNvPr id="16" name="Image 2" descr="preencoded.png">    </p:cNvPr>
          <p:cNvPicPr>
            <a:picLocks noChangeAspect="1"/>
          </p:cNvPicPr>
          <p:nvPr/>
        </p:nvPicPr>
        <p:blipFill>
          <a:blip r:embed="rId3"/>
          <a:stretch>
            <a:fillRect/>
          </a:stretch>
        </p:blipFill>
        <p:spPr>
          <a:xfrm>
            <a:off x="8564880" y="2304288"/>
            <a:ext cx="292608" cy="292608"/>
          </a:xfrm>
          <a:prstGeom prst="rect">
            <a:avLst/>
          </a:prstGeom>
        </p:spPr>
      </p:pic>
      <p:sp>
        <p:nvSpPr>
          <p:cNvPr id="17" name="Text 12"/>
          <p:cNvSpPr/>
          <p:nvPr/>
        </p:nvSpPr>
        <p:spPr>
          <a:xfrm>
            <a:off x="8427720" y="2862072"/>
            <a:ext cx="2773680" cy="36576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Cargo Management</a:t>
            </a:r>
            <a:endParaRPr lang="en-US" sz="1550" dirty="0"/>
          </a:p>
        </p:txBody>
      </p:sp>
      <p:sp>
        <p:nvSpPr>
          <p:cNvPr id="18" name="Text 13"/>
          <p:cNvSpPr/>
          <p:nvPr/>
        </p:nvSpPr>
        <p:spPr>
          <a:xfrm>
            <a:off x="8427720" y="3246120"/>
            <a:ext cx="2773680" cy="434340"/>
          </a:xfrm>
          <a:prstGeom prst="rect">
            <a:avLst/>
          </a:prstGeom>
          <a:noFill/>
          <a:ln/>
        </p:spPr>
        <p:txBody>
          <a:bodyPr wrap="square" lIns="0" tIns="0" rIns="0" bIns="0" rtlCol="0" anchor="ctr"/>
          <a:lstStyle/>
          <a:p>
            <a:pPr indent="0" marL="0">
              <a:lnSpc>
                <a:spcPct val="115000"/>
              </a:lnSpc>
              <a:buNone/>
            </a:pPr>
            <a:r>
              <a:rPr lang="en-US" sz="1250" dirty="0">
                <a:solidFill>
                  <a:srgbClr val="5A7184"/>
                </a:solidFill>
                <a:latin typeface="Calibri" pitchFamily="34" charset="0"/>
                <a:ea typeface="Calibri" pitchFamily="34" charset="-122"/>
                <a:cs typeface="Calibri" pitchFamily="34" charset="-120"/>
              </a:rPr>
              <a:t>Log cargo type, weight, owner, and hazardous-material flags</a:t>
            </a:r>
            <a:endParaRPr lang="en-US" sz="1250" dirty="0"/>
          </a:p>
        </p:txBody>
      </p:sp>
      <p:sp>
        <p:nvSpPr>
          <p:cNvPr id="19" name="Shape 14"/>
          <p:cNvSpPr/>
          <p:nvPr/>
        </p:nvSpPr>
        <p:spPr>
          <a:xfrm>
            <a:off x="640080" y="4137660"/>
            <a:ext cx="3413760" cy="1943100"/>
          </a:xfrm>
          <a:prstGeom prst="roundRect">
            <a:avLst>
              <a:gd name="adj" fmla="val 4706"/>
            </a:avLst>
          </a:prstGeom>
          <a:solidFill>
            <a:srgbClr val="FFFFFF"/>
          </a:solidFill>
          <a:ln/>
          <a:effectLst>
            <a:outerShdw sx="100000" sy="100000" kx="0" ky="0" algn="bl" rotWithShape="0" blurRad="88900" dist="25400" dir="5400000">
              <a:srgbClr val="000000">
                <a:alpha val="8000"/>
              </a:srgbClr>
            </a:outerShdw>
          </a:effectLst>
        </p:spPr>
      </p:sp>
      <p:sp>
        <p:nvSpPr>
          <p:cNvPr id="20" name="Shape 15"/>
          <p:cNvSpPr/>
          <p:nvPr/>
        </p:nvSpPr>
        <p:spPr>
          <a:xfrm>
            <a:off x="960120" y="4430268"/>
            <a:ext cx="566928" cy="566928"/>
          </a:xfrm>
          <a:prstGeom prst="ellipse">
            <a:avLst/>
          </a:prstGeom>
          <a:solidFill>
            <a:srgbClr val="1C7293"/>
          </a:solidFill>
          <a:ln/>
        </p:spPr>
      </p:sp>
      <p:pic>
        <p:nvPicPr>
          <p:cNvPr id="21" name="Image 3" descr="preencoded.png">    </p:cNvPr>
          <p:cNvPicPr>
            <a:picLocks noChangeAspect="1"/>
          </p:cNvPicPr>
          <p:nvPr/>
        </p:nvPicPr>
        <p:blipFill>
          <a:blip r:embed="rId4"/>
          <a:stretch>
            <a:fillRect/>
          </a:stretch>
        </p:blipFill>
        <p:spPr>
          <a:xfrm>
            <a:off x="1097280" y="4567428"/>
            <a:ext cx="292608" cy="292608"/>
          </a:xfrm>
          <a:prstGeom prst="rect">
            <a:avLst/>
          </a:prstGeom>
        </p:spPr>
      </p:pic>
      <p:sp>
        <p:nvSpPr>
          <p:cNvPr id="22" name="Text 16"/>
          <p:cNvSpPr/>
          <p:nvPr/>
        </p:nvSpPr>
        <p:spPr>
          <a:xfrm>
            <a:off x="960120" y="5125212"/>
            <a:ext cx="2773680" cy="36576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Arrival Tracking</a:t>
            </a:r>
            <a:endParaRPr lang="en-US" sz="1550" dirty="0"/>
          </a:p>
        </p:txBody>
      </p:sp>
      <p:sp>
        <p:nvSpPr>
          <p:cNvPr id="23" name="Text 17"/>
          <p:cNvSpPr/>
          <p:nvPr/>
        </p:nvSpPr>
        <p:spPr>
          <a:xfrm>
            <a:off x="960120" y="5509260"/>
            <a:ext cx="2773680" cy="434340"/>
          </a:xfrm>
          <a:prstGeom prst="rect">
            <a:avLst/>
          </a:prstGeom>
          <a:noFill/>
          <a:ln/>
        </p:spPr>
        <p:txBody>
          <a:bodyPr wrap="square" lIns="0" tIns="0" rIns="0" bIns="0" rtlCol="0" anchor="ctr"/>
          <a:lstStyle/>
          <a:p>
            <a:pPr indent="0" marL="0">
              <a:lnSpc>
                <a:spcPct val="115000"/>
              </a:lnSpc>
              <a:buNone/>
            </a:pPr>
            <a:r>
              <a:rPr lang="en-US" sz="1250" dirty="0">
                <a:solidFill>
                  <a:srgbClr val="5A7184"/>
                </a:solidFill>
                <a:latin typeface="Calibri" pitchFamily="34" charset="0"/>
                <a:ea typeface="Calibri" pitchFamily="34" charset="-122"/>
                <a:cs typeface="Calibri" pitchFamily="34" charset="-120"/>
              </a:rPr>
              <a:t>Link a ship, dock, and cargo record to an arrival with dates &amp; status</a:t>
            </a:r>
            <a:endParaRPr lang="en-US" sz="1250" dirty="0"/>
          </a:p>
        </p:txBody>
      </p:sp>
      <p:sp>
        <p:nvSpPr>
          <p:cNvPr id="24" name="Shape 18"/>
          <p:cNvSpPr/>
          <p:nvPr/>
        </p:nvSpPr>
        <p:spPr>
          <a:xfrm>
            <a:off x="4373880" y="4137660"/>
            <a:ext cx="3413760" cy="1943100"/>
          </a:xfrm>
          <a:prstGeom prst="roundRect">
            <a:avLst>
              <a:gd name="adj" fmla="val 4706"/>
            </a:avLst>
          </a:prstGeom>
          <a:solidFill>
            <a:srgbClr val="FFFFFF"/>
          </a:solidFill>
          <a:ln/>
          <a:effectLst>
            <a:outerShdw sx="100000" sy="100000" kx="0" ky="0" algn="bl" rotWithShape="0" blurRad="88900" dist="25400" dir="5400000">
              <a:srgbClr val="000000">
                <a:alpha val="8000"/>
              </a:srgbClr>
            </a:outerShdw>
          </a:effectLst>
        </p:spPr>
      </p:sp>
      <p:sp>
        <p:nvSpPr>
          <p:cNvPr id="25" name="Shape 19"/>
          <p:cNvSpPr/>
          <p:nvPr/>
        </p:nvSpPr>
        <p:spPr>
          <a:xfrm>
            <a:off x="4693920" y="4430268"/>
            <a:ext cx="566928" cy="566928"/>
          </a:xfrm>
          <a:prstGeom prst="ellipse">
            <a:avLst/>
          </a:prstGeom>
          <a:solidFill>
            <a:srgbClr val="1C7293"/>
          </a:solidFill>
          <a:ln/>
        </p:spPr>
      </p:sp>
      <p:pic>
        <p:nvPicPr>
          <p:cNvPr id="26" name="Image 4" descr="preencoded.png">    </p:cNvPr>
          <p:cNvPicPr>
            <a:picLocks noChangeAspect="1"/>
          </p:cNvPicPr>
          <p:nvPr/>
        </p:nvPicPr>
        <p:blipFill>
          <a:blip r:embed="rId5"/>
          <a:stretch>
            <a:fillRect/>
          </a:stretch>
        </p:blipFill>
        <p:spPr>
          <a:xfrm>
            <a:off x="4831080" y="4567428"/>
            <a:ext cx="292608" cy="292608"/>
          </a:xfrm>
          <a:prstGeom prst="rect">
            <a:avLst/>
          </a:prstGeom>
        </p:spPr>
      </p:pic>
      <p:sp>
        <p:nvSpPr>
          <p:cNvPr id="27" name="Text 20"/>
          <p:cNvSpPr/>
          <p:nvPr/>
        </p:nvSpPr>
        <p:spPr>
          <a:xfrm>
            <a:off x="4693920" y="5125212"/>
            <a:ext cx="2773680" cy="36576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Search &amp; Filter</a:t>
            </a:r>
            <a:endParaRPr lang="en-US" sz="1550" dirty="0"/>
          </a:p>
        </p:txBody>
      </p:sp>
      <p:sp>
        <p:nvSpPr>
          <p:cNvPr id="28" name="Text 21"/>
          <p:cNvSpPr/>
          <p:nvPr/>
        </p:nvSpPr>
        <p:spPr>
          <a:xfrm>
            <a:off x="4693920" y="5509260"/>
            <a:ext cx="2773680" cy="434340"/>
          </a:xfrm>
          <a:prstGeom prst="rect">
            <a:avLst/>
          </a:prstGeom>
          <a:noFill/>
          <a:ln/>
        </p:spPr>
        <p:txBody>
          <a:bodyPr wrap="square" lIns="0" tIns="0" rIns="0" bIns="0" rtlCol="0" anchor="ctr"/>
          <a:lstStyle/>
          <a:p>
            <a:pPr indent="0" marL="0">
              <a:lnSpc>
                <a:spcPct val="115000"/>
              </a:lnSpc>
              <a:buNone/>
            </a:pPr>
            <a:r>
              <a:rPr lang="en-US" sz="1250" dirty="0">
                <a:solidFill>
                  <a:srgbClr val="5A7184"/>
                </a:solidFill>
                <a:latin typeface="Calibri" pitchFamily="34" charset="0"/>
                <a:ea typeface="Calibri" pitchFamily="34" charset="-122"/>
                <a:cs typeface="Calibri" pitchFamily="34" charset="-120"/>
              </a:rPr>
              <a:t>Find ships by name, or filter arrivals by ship and status</a:t>
            </a:r>
            <a:endParaRPr lang="en-US" sz="1250" dirty="0"/>
          </a:p>
        </p:txBody>
      </p:sp>
      <p:sp>
        <p:nvSpPr>
          <p:cNvPr id="29" name="Shape 22"/>
          <p:cNvSpPr/>
          <p:nvPr/>
        </p:nvSpPr>
        <p:spPr>
          <a:xfrm>
            <a:off x="8107680" y="4137660"/>
            <a:ext cx="3413760" cy="1943100"/>
          </a:xfrm>
          <a:prstGeom prst="roundRect">
            <a:avLst>
              <a:gd name="adj" fmla="val 4706"/>
            </a:avLst>
          </a:prstGeom>
          <a:solidFill>
            <a:srgbClr val="FFFFFF"/>
          </a:solidFill>
          <a:ln/>
          <a:effectLst>
            <a:outerShdw sx="100000" sy="100000" kx="0" ky="0" algn="bl" rotWithShape="0" blurRad="88900" dist="25400" dir="5400000">
              <a:srgbClr val="000000">
                <a:alpha val="8000"/>
              </a:srgbClr>
            </a:outerShdw>
          </a:effectLst>
        </p:spPr>
      </p:sp>
      <p:sp>
        <p:nvSpPr>
          <p:cNvPr id="30" name="Shape 23"/>
          <p:cNvSpPr/>
          <p:nvPr/>
        </p:nvSpPr>
        <p:spPr>
          <a:xfrm>
            <a:off x="8427720" y="4430268"/>
            <a:ext cx="566928" cy="566928"/>
          </a:xfrm>
          <a:prstGeom prst="ellipse">
            <a:avLst/>
          </a:prstGeom>
          <a:solidFill>
            <a:srgbClr val="1C7293"/>
          </a:solidFill>
          <a:ln/>
        </p:spPr>
      </p:sp>
      <p:pic>
        <p:nvPicPr>
          <p:cNvPr id="31" name="Image 5" descr="preencoded.png">    </p:cNvPr>
          <p:cNvPicPr>
            <a:picLocks noChangeAspect="1"/>
          </p:cNvPicPr>
          <p:nvPr/>
        </p:nvPicPr>
        <p:blipFill>
          <a:blip r:embed="rId6"/>
          <a:stretch>
            <a:fillRect/>
          </a:stretch>
        </p:blipFill>
        <p:spPr>
          <a:xfrm>
            <a:off x="8564880" y="4567428"/>
            <a:ext cx="292608" cy="292608"/>
          </a:xfrm>
          <a:prstGeom prst="rect">
            <a:avLst/>
          </a:prstGeom>
        </p:spPr>
      </p:pic>
      <p:sp>
        <p:nvSpPr>
          <p:cNvPr id="32" name="Text 24"/>
          <p:cNvSpPr/>
          <p:nvPr/>
        </p:nvSpPr>
        <p:spPr>
          <a:xfrm>
            <a:off x="8427720" y="5125212"/>
            <a:ext cx="2773680" cy="36576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Secure Access</a:t>
            </a:r>
            <a:endParaRPr lang="en-US" sz="1550" dirty="0"/>
          </a:p>
        </p:txBody>
      </p:sp>
      <p:sp>
        <p:nvSpPr>
          <p:cNvPr id="33" name="Text 25"/>
          <p:cNvSpPr/>
          <p:nvPr/>
        </p:nvSpPr>
        <p:spPr>
          <a:xfrm>
            <a:off x="8427720" y="5509260"/>
            <a:ext cx="2773680" cy="434340"/>
          </a:xfrm>
          <a:prstGeom prst="rect">
            <a:avLst/>
          </a:prstGeom>
          <a:noFill/>
          <a:ln/>
        </p:spPr>
        <p:txBody>
          <a:bodyPr wrap="square" lIns="0" tIns="0" rIns="0" bIns="0" rtlCol="0" anchor="ctr"/>
          <a:lstStyle/>
          <a:p>
            <a:pPr indent="0" marL="0">
              <a:lnSpc>
                <a:spcPct val="115000"/>
              </a:lnSpc>
              <a:buNone/>
            </a:pPr>
            <a:r>
              <a:rPr lang="en-US" sz="1250" dirty="0">
                <a:solidFill>
                  <a:srgbClr val="5A7184"/>
                </a:solidFill>
                <a:latin typeface="Calibri" pitchFamily="34" charset="0"/>
                <a:ea typeface="Calibri" pitchFamily="34" charset="-122"/>
                <a:cs typeface="Calibri" pitchFamily="34" charset="-120"/>
              </a:rPr>
              <a:t>Login-gated management pages; public info pages stay open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64008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Technologies Used</a:t>
            </a:r>
            <a:endParaRPr lang="en-US" sz="3200" dirty="0"/>
          </a:p>
        </p:txBody>
      </p:sp>
      <p:sp>
        <p:nvSpPr>
          <p:cNvPr id="3" name="Text 1"/>
          <p:cNvSpPr/>
          <p:nvPr/>
        </p:nvSpPr>
        <p:spPr>
          <a:xfrm>
            <a:off x="640080" y="1097280"/>
            <a:ext cx="9144000" cy="365760"/>
          </a:xfrm>
          <a:prstGeom prst="rect">
            <a:avLst/>
          </a:prstGeom>
          <a:noFill/>
          <a:ln/>
        </p:spPr>
        <p:txBody>
          <a:bodyPr wrap="square" lIns="0" tIns="0" rIns="0" bIns="0" rtlCol="0" anchor="ctr"/>
          <a:lstStyle/>
          <a:p>
            <a:pPr indent="0" marL="0">
              <a:buNone/>
            </a:pPr>
            <a:r>
              <a:rPr lang="en-US" sz="1500" dirty="0">
                <a:solidFill>
                  <a:srgbClr val="5A7184"/>
                </a:solidFill>
                <a:latin typeface="Calibri" pitchFamily="34" charset="0"/>
                <a:ea typeface="Calibri" pitchFamily="34" charset="-122"/>
                <a:cs typeface="Calibri" pitchFamily="34" charset="-120"/>
              </a:rPr>
              <a:t>A two-tier architecture: React client, ASP.NET Core API</a:t>
            </a:r>
            <a:endParaRPr lang="en-US" sz="1500" dirty="0"/>
          </a:p>
        </p:txBody>
      </p:sp>
      <p:sp>
        <p:nvSpPr>
          <p:cNvPr id="4" name="Shape 2"/>
          <p:cNvSpPr/>
          <p:nvPr/>
        </p:nvSpPr>
        <p:spPr>
          <a:xfrm>
            <a:off x="640080" y="2103120"/>
            <a:ext cx="3291840" cy="3566160"/>
          </a:xfrm>
          <a:prstGeom prst="roundRect">
            <a:avLst>
              <a:gd name="adj" fmla="val 3333"/>
            </a:avLst>
          </a:prstGeom>
          <a:solidFill>
            <a:srgbClr val="F4F7F9"/>
          </a:solidFill>
          <a:ln/>
          <a:effectLst>
            <a:outerShdw sx="100000" sy="100000" kx="0" ky="0" algn="bl" rotWithShape="0" blurRad="101600" dist="38100" dir="54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960120" y="2423160"/>
            <a:ext cx="457200" cy="457200"/>
          </a:xfrm>
          <a:prstGeom prst="rect">
            <a:avLst/>
          </a:prstGeom>
        </p:spPr>
      </p:pic>
      <p:sp>
        <p:nvSpPr>
          <p:cNvPr id="6" name="Text 3"/>
          <p:cNvSpPr/>
          <p:nvPr/>
        </p:nvSpPr>
        <p:spPr>
          <a:xfrm>
            <a:off x="1554480" y="2423160"/>
            <a:ext cx="2194560" cy="45720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FRONTEND</a:t>
            </a:r>
            <a:endParaRPr lang="en-US" sz="1500" dirty="0"/>
          </a:p>
        </p:txBody>
      </p:sp>
      <p:sp>
        <p:nvSpPr>
          <p:cNvPr id="7" name="Text 4"/>
          <p:cNvSpPr/>
          <p:nvPr/>
        </p:nvSpPr>
        <p:spPr>
          <a:xfrm>
            <a:off x="960120" y="3063240"/>
            <a:ext cx="2743200" cy="237744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00" b="1" dirty="0">
                <a:solidFill>
                  <a:srgbClr val="1B2733"/>
                </a:solidFill>
                <a:latin typeface="Calibri" pitchFamily="34" charset="0"/>
                <a:ea typeface="Calibri" pitchFamily="34" charset="-122"/>
                <a:cs typeface="Calibri" pitchFamily="34" charset="-120"/>
              </a:rPr>
              <a:t>React 19</a:t>
            </a:r>
            <a:endParaRPr lang="en-US" sz="1400" dirty="0"/>
          </a:p>
          <a:p>
            <a:pPr marL="342900" indent="-342900">
              <a:lnSpc>
                <a:spcPct val="115000"/>
              </a:lnSpc>
              <a:spcAft>
                <a:spcPts val="800"/>
              </a:spcAft>
              <a:buSzPct val="100000"/>
              <a:buChar char="•"/>
            </a:pPr>
            <a:r>
              <a:rPr lang="en-US" sz="1400" dirty="0">
                <a:solidFill>
                  <a:srgbClr val="1B2733"/>
                </a:solidFill>
                <a:latin typeface="Calibri" pitchFamily="34" charset="0"/>
                <a:ea typeface="Calibri" pitchFamily="34" charset="-122"/>
                <a:cs typeface="Calibri" pitchFamily="34" charset="-120"/>
              </a:rPr>
              <a:t>Vite build tooling</a:t>
            </a:r>
            <a:endParaRPr lang="en-US" sz="1400" dirty="0"/>
          </a:p>
          <a:p>
            <a:pPr marL="342900" indent="-342900">
              <a:lnSpc>
                <a:spcPct val="115000"/>
              </a:lnSpc>
              <a:spcAft>
                <a:spcPts val="800"/>
              </a:spcAft>
              <a:buSzPct val="100000"/>
              <a:buChar char="•"/>
            </a:pPr>
            <a:r>
              <a:rPr lang="en-US" sz="1400" dirty="0">
                <a:solidFill>
                  <a:srgbClr val="1B2733"/>
                </a:solidFill>
                <a:latin typeface="Calibri" pitchFamily="34" charset="0"/>
                <a:ea typeface="Calibri" pitchFamily="34" charset="-122"/>
                <a:cs typeface="Calibri" pitchFamily="34" charset="-120"/>
              </a:rPr>
              <a:t>React Router 7 (routing &amp; guards)</a:t>
            </a:r>
            <a:endParaRPr lang="en-US" sz="1400" dirty="0"/>
          </a:p>
          <a:p>
            <a:pPr marL="342900" indent="-342900">
              <a:lnSpc>
                <a:spcPct val="115000"/>
              </a:lnSpc>
              <a:buSzPct val="100000"/>
              <a:buChar char="•"/>
            </a:pPr>
            <a:r>
              <a:rPr lang="en-US" sz="1400" dirty="0">
                <a:solidFill>
                  <a:srgbClr val="1B2733"/>
                </a:solidFill>
                <a:latin typeface="Calibri" pitchFamily="34" charset="0"/>
                <a:ea typeface="Calibri" pitchFamily="34" charset="-122"/>
                <a:cs typeface="Calibri" pitchFamily="34" charset="-120"/>
              </a:rPr>
              <a:t>Axios (HTTP client)</a:t>
            </a:r>
            <a:endParaRPr lang="en-US" sz="1400" dirty="0"/>
          </a:p>
        </p:txBody>
      </p:sp>
      <p:sp>
        <p:nvSpPr>
          <p:cNvPr id="8" name="Shape 5"/>
          <p:cNvSpPr/>
          <p:nvPr/>
        </p:nvSpPr>
        <p:spPr>
          <a:xfrm>
            <a:off x="4160520" y="3383280"/>
            <a:ext cx="1005840" cy="1005840"/>
          </a:xfrm>
          <a:prstGeom prst="ellipse">
            <a:avLst/>
          </a:prstGeom>
          <a:solidFill>
            <a:srgbClr val="1C7293"/>
          </a:solidFill>
          <a:ln/>
        </p:spPr>
      </p:sp>
      <p:pic>
        <p:nvPicPr>
          <p:cNvPr id="9" name="Image 1" descr="preencoded.png">    </p:cNvPr>
          <p:cNvPicPr>
            <a:picLocks noChangeAspect="1"/>
          </p:cNvPicPr>
          <p:nvPr/>
        </p:nvPicPr>
        <p:blipFill>
          <a:blip r:embed="rId2"/>
          <a:stretch>
            <a:fillRect/>
          </a:stretch>
        </p:blipFill>
        <p:spPr>
          <a:xfrm>
            <a:off x="4416552" y="3639312"/>
            <a:ext cx="493776" cy="493776"/>
          </a:xfrm>
          <a:prstGeom prst="rect">
            <a:avLst/>
          </a:prstGeom>
        </p:spPr>
      </p:pic>
      <p:sp>
        <p:nvSpPr>
          <p:cNvPr id="10" name="Text 6"/>
          <p:cNvSpPr/>
          <p:nvPr/>
        </p:nvSpPr>
        <p:spPr>
          <a:xfrm>
            <a:off x="3566160" y="4480560"/>
            <a:ext cx="2194560" cy="548640"/>
          </a:xfrm>
          <a:prstGeom prst="rect">
            <a:avLst/>
          </a:prstGeom>
          <a:noFill/>
          <a:ln/>
        </p:spPr>
        <p:txBody>
          <a:bodyPr wrap="square" lIns="0" tIns="0" rIns="0" bIns="0" rtlCol="0" anchor="ctr"/>
          <a:lstStyle/>
          <a:p>
            <a:pPr algn="ctr" indent="0" marL="0">
              <a:buNone/>
            </a:pPr>
            <a:r>
              <a:rPr lang="en-US" sz="1150" i="1" dirty="0">
                <a:solidFill>
                  <a:srgbClr val="5A7184"/>
                </a:solidFill>
                <a:latin typeface="Calibri" pitchFamily="34" charset="0"/>
                <a:ea typeface="Calibri" pitchFamily="34" charset="-122"/>
                <a:cs typeface="Calibri" pitchFamily="34" charset="-120"/>
              </a:rPr>
              <a:t>REST API</a:t>
            </a:r>
            <a:endParaRPr lang="en-US" sz="1150" dirty="0"/>
          </a:p>
          <a:p>
            <a:pPr algn="ctr" indent="0" marL="0">
              <a:buNone/>
            </a:pPr>
            <a:r>
              <a:rPr lang="en-US" sz="1150" i="1" dirty="0">
                <a:solidFill>
                  <a:srgbClr val="5A7184"/>
                </a:solidFill>
                <a:latin typeface="Calibri" pitchFamily="34" charset="0"/>
                <a:ea typeface="Calibri" pitchFamily="34" charset="-122"/>
                <a:cs typeface="Calibri" pitchFamily="34" charset="-120"/>
              </a:rPr>
              <a:t>(JSON over HTTP)</a:t>
            </a:r>
            <a:endParaRPr lang="en-US" sz="1150" dirty="0"/>
          </a:p>
        </p:txBody>
      </p:sp>
      <p:sp>
        <p:nvSpPr>
          <p:cNvPr id="11" name="Shape 7"/>
          <p:cNvSpPr/>
          <p:nvPr/>
        </p:nvSpPr>
        <p:spPr>
          <a:xfrm>
            <a:off x="5440680" y="2103120"/>
            <a:ext cx="3291840" cy="3566160"/>
          </a:xfrm>
          <a:prstGeom prst="roundRect">
            <a:avLst>
              <a:gd name="adj" fmla="val 3333"/>
            </a:avLst>
          </a:prstGeom>
          <a:solidFill>
            <a:srgbClr val="F4F7F9"/>
          </a:solidFill>
          <a:ln/>
          <a:effectLst>
            <a:outerShdw sx="100000" sy="100000" kx="0" ky="0" algn="bl" rotWithShape="0" blurRad="101600" dist="38100" dir="5400000">
              <a:srgbClr val="000000">
                <a:alpha val="10000"/>
              </a:srgbClr>
            </a:outerShdw>
          </a:effectLst>
        </p:spPr>
      </p:sp>
      <p:pic>
        <p:nvPicPr>
          <p:cNvPr id="12" name="Image 2" descr="preencoded.png">    </p:cNvPr>
          <p:cNvPicPr>
            <a:picLocks noChangeAspect="1"/>
          </p:cNvPicPr>
          <p:nvPr/>
        </p:nvPicPr>
        <p:blipFill>
          <a:blip r:embed="rId3"/>
          <a:stretch>
            <a:fillRect/>
          </a:stretch>
        </p:blipFill>
        <p:spPr>
          <a:xfrm>
            <a:off x="5760720" y="2423160"/>
            <a:ext cx="457200" cy="457200"/>
          </a:xfrm>
          <a:prstGeom prst="rect">
            <a:avLst/>
          </a:prstGeom>
        </p:spPr>
      </p:pic>
      <p:sp>
        <p:nvSpPr>
          <p:cNvPr id="13" name="Text 8"/>
          <p:cNvSpPr/>
          <p:nvPr/>
        </p:nvSpPr>
        <p:spPr>
          <a:xfrm>
            <a:off x="6355080" y="2423160"/>
            <a:ext cx="2194560" cy="45720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BACKEND</a:t>
            </a:r>
            <a:endParaRPr lang="en-US" sz="1500" dirty="0"/>
          </a:p>
        </p:txBody>
      </p:sp>
      <p:sp>
        <p:nvSpPr>
          <p:cNvPr id="14" name="Text 9"/>
          <p:cNvSpPr/>
          <p:nvPr/>
        </p:nvSpPr>
        <p:spPr>
          <a:xfrm>
            <a:off x="5760720" y="3063240"/>
            <a:ext cx="2743200" cy="237744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400" b="1" dirty="0">
                <a:solidFill>
                  <a:srgbClr val="1B2733"/>
                </a:solidFill>
                <a:latin typeface="Calibri" pitchFamily="34" charset="0"/>
                <a:ea typeface="Calibri" pitchFamily="34" charset="-122"/>
                <a:cs typeface="Calibri" pitchFamily="34" charset="-120"/>
              </a:rPr>
              <a:t>ASP.NET Core 8 Web API</a:t>
            </a:r>
            <a:endParaRPr lang="en-US" sz="1400" dirty="0"/>
          </a:p>
          <a:p>
            <a:pPr marL="342900" indent="-342900">
              <a:lnSpc>
                <a:spcPct val="115000"/>
              </a:lnSpc>
              <a:spcAft>
                <a:spcPts val="800"/>
              </a:spcAft>
              <a:buSzPct val="100000"/>
              <a:buChar char="•"/>
            </a:pPr>
            <a:r>
              <a:rPr lang="en-US" sz="1400" dirty="0">
                <a:solidFill>
                  <a:srgbClr val="1B2733"/>
                </a:solidFill>
                <a:latin typeface="Calibri" pitchFamily="34" charset="0"/>
                <a:ea typeface="Calibri" pitchFamily="34" charset="-122"/>
                <a:cs typeface="Calibri" pitchFamily="34" charset="-120"/>
              </a:rPr>
              <a:t>Microsoft.Data.SqlClient (ADO.NET)</a:t>
            </a:r>
            <a:endParaRPr lang="en-US" sz="1400" dirty="0"/>
          </a:p>
          <a:p>
            <a:pPr marL="342900" indent="-342900">
              <a:lnSpc>
                <a:spcPct val="115000"/>
              </a:lnSpc>
              <a:spcAft>
                <a:spcPts val="800"/>
              </a:spcAft>
              <a:buSzPct val="100000"/>
              <a:buChar char="•"/>
            </a:pPr>
            <a:r>
              <a:rPr lang="en-US" sz="1400" dirty="0">
                <a:solidFill>
                  <a:srgbClr val="1B2733"/>
                </a:solidFill>
                <a:latin typeface="Calibri" pitchFamily="34" charset="0"/>
                <a:ea typeface="Calibri" pitchFamily="34" charset="-122"/>
                <a:cs typeface="Calibri" pitchFamily="34" charset="-120"/>
              </a:rPr>
              <a:t>Parameterized SQL queries</a:t>
            </a:r>
            <a:endParaRPr lang="en-US" sz="1400" dirty="0"/>
          </a:p>
          <a:p>
            <a:pPr marL="342900" indent="-342900">
              <a:lnSpc>
                <a:spcPct val="115000"/>
              </a:lnSpc>
              <a:buSzPct val="100000"/>
              <a:buChar char="•"/>
            </a:pPr>
            <a:r>
              <a:rPr lang="en-US" sz="1400" dirty="0">
                <a:solidFill>
                  <a:srgbClr val="1B2733"/>
                </a:solidFill>
                <a:latin typeface="Calibri" pitchFamily="34" charset="0"/>
                <a:ea typeface="Calibri" pitchFamily="34" charset="-122"/>
                <a:cs typeface="Calibri" pitchFamily="34" charset="-120"/>
              </a:rPr>
              <a:t>Swagger / OpenAPI docs</a:t>
            </a:r>
            <a:endParaRPr lang="en-US" sz="1400" dirty="0"/>
          </a:p>
        </p:txBody>
      </p:sp>
      <p:sp>
        <p:nvSpPr>
          <p:cNvPr id="15" name="Shape 10"/>
          <p:cNvSpPr/>
          <p:nvPr/>
        </p:nvSpPr>
        <p:spPr>
          <a:xfrm>
            <a:off x="8412480" y="2103120"/>
            <a:ext cx="3108960" cy="3566160"/>
          </a:xfrm>
          <a:prstGeom prst="roundRect">
            <a:avLst>
              <a:gd name="adj" fmla="val 3529"/>
            </a:avLst>
          </a:prstGeom>
          <a:solidFill>
            <a:srgbClr val="21295C"/>
          </a:solidFill>
          <a:ln/>
          <a:effectLst>
            <a:outerShdw sx="100000" sy="100000" kx="0" ky="0" algn="bl" rotWithShape="0" blurRad="101600" dist="38100" dir="5400000">
              <a:srgbClr val="000000">
                <a:alpha val="15000"/>
              </a:srgbClr>
            </a:outerShdw>
          </a:effectLst>
        </p:spPr>
      </p:sp>
      <p:pic>
        <p:nvPicPr>
          <p:cNvPr id="16" name="Image 3" descr="preencoded.png">    </p:cNvPr>
          <p:cNvPicPr>
            <a:picLocks noChangeAspect="1"/>
          </p:cNvPicPr>
          <p:nvPr/>
        </p:nvPicPr>
        <p:blipFill>
          <a:blip r:embed="rId4"/>
          <a:stretch>
            <a:fillRect/>
          </a:stretch>
        </p:blipFill>
        <p:spPr>
          <a:xfrm>
            <a:off x="8732520" y="2423160"/>
            <a:ext cx="457200" cy="457200"/>
          </a:xfrm>
          <a:prstGeom prst="rect">
            <a:avLst/>
          </a:prstGeom>
        </p:spPr>
      </p:pic>
      <p:sp>
        <p:nvSpPr>
          <p:cNvPr id="17" name="Text 11"/>
          <p:cNvSpPr/>
          <p:nvPr/>
        </p:nvSpPr>
        <p:spPr>
          <a:xfrm>
            <a:off x="9326880" y="2423160"/>
            <a:ext cx="201168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DATABASE</a:t>
            </a:r>
            <a:endParaRPr lang="en-US" sz="1500" dirty="0"/>
          </a:p>
        </p:txBody>
      </p:sp>
      <p:sp>
        <p:nvSpPr>
          <p:cNvPr id="18" name="Text 12"/>
          <p:cNvSpPr/>
          <p:nvPr/>
        </p:nvSpPr>
        <p:spPr>
          <a:xfrm>
            <a:off x="8732520" y="3063240"/>
            <a:ext cx="2651760" cy="2377440"/>
          </a:xfrm>
          <a:prstGeom prst="rect">
            <a:avLst/>
          </a:prstGeom>
          <a:noFill/>
          <a:ln/>
        </p:spPr>
        <p:txBody>
          <a:bodyPr wrap="square" lIns="0" tIns="0" rIns="0" bIns="0" rtlCol="0" anchor="ctr"/>
          <a:lstStyle/>
          <a:p>
            <a:pPr marL="342900" indent="-342900">
              <a:lnSpc>
                <a:spcPct val="115000"/>
              </a:lnSpc>
              <a:spcAft>
                <a:spcPts val="800"/>
              </a:spcAft>
              <a:buSzPct val="100000"/>
              <a:buChar char="•"/>
            </a:pPr>
            <a:r>
              <a:rPr lang="en-US" sz="1350" b="1" dirty="0">
                <a:solidFill>
                  <a:srgbClr val="FFFFFF"/>
                </a:solidFill>
                <a:latin typeface="Calibri" pitchFamily="34" charset="0"/>
                <a:ea typeface="Calibri" pitchFamily="34" charset="-122"/>
                <a:cs typeface="Calibri" pitchFamily="34" charset="-120"/>
              </a:rPr>
              <a:t>Microsoft SQL Server</a:t>
            </a:r>
            <a:endParaRPr lang="en-US" sz="1350" dirty="0"/>
          </a:p>
          <a:p>
            <a:pPr marL="342900" indent="-342900">
              <a:lnSpc>
                <a:spcPct val="115000"/>
              </a:lnSpc>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4 relational tables</a:t>
            </a:r>
            <a:endParaRPr lang="en-US" sz="1350" dirty="0"/>
          </a:p>
          <a:p>
            <a:pPr marL="342900" indent="-342900">
              <a:lnSpc>
                <a:spcPct val="115000"/>
              </a:lnSpc>
              <a:buSzPct val="100000"/>
              <a:buChar char="•"/>
            </a:pPr>
            <a:r>
              <a:rPr lang="en-US" sz="1350" dirty="0">
                <a:solidFill>
                  <a:srgbClr val="FFFFFF"/>
                </a:solidFill>
                <a:latin typeface="Calibri" pitchFamily="34" charset="0"/>
                <a:ea typeface="Calibri" pitchFamily="34" charset="-122"/>
                <a:cs typeface="Calibri" pitchFamily="34" charset="-120"/>
              </a:rPr>
              <a:t>Server-side validation on every write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4F8"/>
        </a:solidFill>
      </p:bgPr>
    </p:bg>
    <p:spTree>
      <p:nvGrpSpPr>
        <p:cNvPr id="1" name=""/>
        <p:cNvGrpSpPr/>
        <p:nvPr/>
      </p:nvGrpSpPr>
      <p:grpSpPr>
        <a:xfrm>
          <a:off x="0" y="0"/>
          <a:ext cx="0" cy="0"/>
          <a:chOff x="0" y="0"/>
          <a:chExt cx="0" cy="0"/>
        </a:xfrm>
      </p:grpSpPr>
      <p:sp>
        <p:nvSpPr>
          <p:cNvPr id="2" name="Text 0"/>
          <p:cNvSpPr/>
          <p:nvPr/>
        </p:nvSpPr>
        <p:spPr>
          <a:xfrm>
            <a:off x="640080" y="457200"/>
            <a:ext cx="8229600" cy="5943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Database Design</a:t>
            </a:r>
            <a:endParaRPr lang="en-US" sz="3200" dirty="0"/>
          </a:p>
        </p:txBody>
      </p:sp>
      <p:sp>
        <p:nvSpPr>
          <p:cNvPr id="3" name="Text 1"/>
          <p:cNvSpPr/>
          <p:nvPr/>
        </p:nvSpPr>
        <p:spPr>
          <a:xfrm>
            <a:off x="640080" y="1024128"/>
            <a:ext cx="9144000" cy="365760"/>
          </a:xfrm>
          <a:prstGeom prst="rect">
            <a:avLst/>
          </a:prstGeom>
          <a:noFill/>
          <a:ln/>
        </p:spPr>
        <p:txBody>
          <a:bodyPr wrap="square" lIns="0" tIns="0" rIns="0" bIns="0" rtlCol="0" anchor="ctr"/>
          <a:lstStyle/>
          <a:p>
            <a:pPr indent="0" marL="0">
              <a:buNone/>
            </a:pPr>
            <a:r>
              <a:rPr lang="en-US" sz="1500" dirty="0">
                <a:solidFill>
                  <a:srgbClr val="5A7184"/>
                </a:solidFill>
                <a:latin typeface="Calibri" pitchFamily="34" charset="0"/>
                <a:ea typeface="Calibri" pitchFamily="34" charset="-122"/>
                <a:cs typeface="Calibri" pitchFamily="34" charset="-120"/>
              </a:rPr>
              <a:t>SeaportManagementDB — 4 tables, Arrivals as the linking record</a:t>
            </a:r>
            <a:endParaRPr lang="en-US" sz="1500" dirty="0"/>
          </a:p>
        </p:txBody>
      </p:sp>
      <p:sp>
        <p:nvSpPr>
          <p:cNvPr id="4" name="Shape 2"/>
          <p:cNvSpPr/>
          <p:nvPr/>
        </p:nvSpPr>
        <p:spPr>
          <a:xfrm>
            <a:off x="640080" y="1691640"/>
            <a:ext cx="2606040" cy="1828800"/>
          </a:xfrm>
          <a:prstGeom prst="roundRect">
            <a:avLst>
              <a:gd name="adj" fmla="val 4000"/>
            </a:avLst>
          </a:prstGeom>
          <a:solidFill>
            <a:srgbClr val="FFFFFF"/>
          </a:solidFill>
          <a:ln/>
          <a:effectLst>
            <a:outerShdw sx="100000" sy="100000" kx="0" ky="0" algn="bl" rotWithShape="0" blurRad="76200" dist="25400" dir="5400000">
              <a:srgbClr val="000000">
                <a:alpha val="10000"/>
              </a:srgbClr>
            </a:outerShdw>
          </a:effectLst>
        </p:spPr>
      </p:sp>
      <p:sp>
        <p:nvSpPr>
          <p:cNvPr id="5" name="Shape 3"/>
          <p:cNvSpPr/>
          <p:nvPr/>
        </p:nvSpPr>
        <p:spPr>
          <a:xfrm>
            <a:off x="640080" y="1691640"/>
            <a:ext cx="2606040" cy="457200"/>
          </a:xfrm>
          <a:prstGeom prst="roundRect">
            <a:avLst>
              <a:gd name="adj" fmla="val 16000"/>
            </a:avLst>
          </a:prstGeom>
          <a:solidFill>
            <a:srgbClr val="1C7293"/>
          </a:solidFill>
          <a:ln/>
        </p:spPr>
      </p:sp>
      <p:sp>
        <p:nvSpPr>
          <p:cNvPr id="6" name="Shape 4"/>
          <p:cNvSpPr/>
          <p:nvPr/>
        </p:nvSpPr>
        <p:spPr>
          <a:xfrm>
            <a:off x="640080" y="1920240"/>
            <a:ext cx="2606040" cy="228600"/>
          </a:xfrm>
          <a:prstGeom prst="rect">
            <a:avLst/>
          </a:prstGeom>
          <a:solidFill>
            <a:srgbClr val="1C7293"/>
          </a:solidFill>
          <a:ln/>
        </p:spPr>
      </p:sp>
      <p:sp>
        <p:nvSpPr>
          <p:cNvPr id="7" name="Text 5"/>
          <p:cNvSpPr/>
          <p:nvPr/>
        </p:nvSpPr>
        <p:spPr>
          <a:xfrm>
            <a:off x="822960" y="1691640"/>
            <a:ext cx="22402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Ships</a:t>
            </a:r>
            <a:endParaRPr lang="en-US" sz="1400" dirty="0"/>
          </a:p>
        </p:txBody>
      </p:sp>
      <p:sp>
        <p:nvSpPr>
          <p:cNvPr id="8" name="Text 6"/>
          <p:cNvSpPr/>
          <p:nvPr/>
        </p:nvSpPr>
        <p:spPr>
          <a:xfrm>
            <a:off x="822960" y="2240280"/>
            <a:ext cx="2240280" cy="1143000"/>
          </a:xfrm>
          <a:prstGeom prst="rect">
            <a:avLst/>
          </a:prstGeom>
          <a:noFill/>
          <a:ln/>
        </p:spPr>
        <p:txBody>
          <a:bodyPr wrap="square" lIns="0" tIns="0" rIns="0" bIns="0" rtlCol="0" anchor="ctr"/>
          <a:lstStyle/>
          <a:p>
            <a:pPr indent="0" marL="0">
              <a:lnSpc>
                <a:spcPct val="105000"/>
              </a:lnSpc>
              <a:buNone/>
            </a:pPr>
            <a:r>
              <a:rPr lang="en-US" sz="1150" dirty="0">
                <a:solidFill>
                  <a:srgbClr val="1B2733"/>
                </a:solidFill>
                <a:latin typeface="Courier New" pitchFamily="34" charset="0"/>
                <a:ea typeface="Courier New" pitchFamily="34" charset="-122"/>
                <a:cs typeface="Courier New" pitchFamily="34" charset="-120"/>
              </a:rPr>
              <a:t>ShipID (PK)</a:t>
            </a:r>
            <a:endParaRPr lang="en-US" sz="1150" dirty="0"/>
          </a:p>
          <a:p>
            <a:pPr indent="0" marL="0">
              <a:lnSpc>
                <a:spcPct val="105000"/>
              </a:lnSpc>
              <a:buNone/>
            </a:pPr>
            <a:r>
              <a:rPr lang="en-US" sz="1150" dirty="0">
                <a:solidFill>
                  <a:srgbClr val="1B2733"/>
                </a:solidFill>
                <a:latin typeface="Courier New" pitchFamily="34" charset="0"/>
                <a:ea typeface="Courier New" pitchFamily="34" charset="-122"/>
                <a:cs typeface="Courier New" pitchFamily="34" charset="-120"/>
              </a:rPr>
              <a:t>ShipName, ShipType</a:t>
            </a:r>
            <a:endParaRPr lang="en-US" sz="1150" dirty="0"/>
          </a:p>
          <a:p>
            <a:pPr indent="0" marL="0">
              <a:lnSpc>
                <a:spcPct val="105000"/>
              </a:lnSpc>
              <a:buNone/>
            </a:pPr>
            <a:r>
              <a:rPr lang="en-US" sz="1150" dirty="0">
                <a:solidFill>
                  <a:srgbClr val="1B2733"/>
                </a:solidFill>
                <a:latin typeface="Courier New" pitchFamily="34" charset="0"/>
                <a:ea typeface="Courier New" pitchFamily="34" charset="-122"/>
                <a:cs typeface="Courier New" pitchFamily="34" charset="-120"/>
              </a:rPr>
              <a:t>Capacity, FlagCountry</a:t>
            </a:r>
            <a:endParaRPr lang="en-US" sz="1150" dirty="0"/>
          </a:p>
          <a:p>
            <a:pPr indent="0" marL="0">
              <a:lnSpc>
                <a:spcPct val="105000"/>
              </a:lnSpc>
              <a:buNone/>
            </a:pPr>
            <a:r>
              <a:rPr lang="en-US" sz="1150" dirty="0">
                <a:solidFill>
                  <a:srgbClr val="1B2733"/>
                </a:solidFill>
                <a:latin typeface="Courier New" pitchFamily="34" charset="0"/>
                <a:ea typeface="Courier New" pitchFamily="34" charset="-122"/>
                <a:cs typeface="Courier New" pitchFamily="34" charset="-120"/>
              </a:rPr>
              <a:t>OwnerName, Contact</a:t>
            </a:r>
            <a:endParaRPr lang="en-US" sz="1150" dirty="0"/>
          </a:p>
          <a:p>
            <a:pPr indent="0" marL="0">
              <a:lnSpc>
                <a:spcPct val="105000"/>
              </a:lnSpc>
              <a:buNone/>
            </a:pPr>
            <a:r>
              <a:rPr lang="en-US" sz="1150" dirty="0">
                <a:solidFill>
                  <a:srgbClr val="1B2733"/>
                </a:solidFill>
                <a:latin typeface="Courier New" pitchFamily="34" charset="0"/>
                <a:ea typeface="Courier New" pitchFamily="34" charset="-122"/>
                <a:cs typeface="Courier New" pitchFamily="34" charset="-120"/>
              </a:rPr>
              <a:t>Status</a:t>
            </a:r>
            <a:endParaRPr lang="en-US" sz="1150" dirty="0"/>
          </a:p>
        </p:txBody>
      </p:sp>
      <p:sp>
        <p:nvSpPr>
          <p:cNvPr id="9" name="Shape 7"/>
          <p:cNvSpPr/>
          <p:nvPr/>
        </p:nvSpPr>
        <p:spPr>
          <a:xfrm>
            <a:off x="3703320" y="1691640"/>
            <a:ext cx="2606040" cy="1828800"/>
          </a:xfrm>
          <a:prstGeom prst="roundRect">
            <a:avLst>
              <a:gd name="adj" fmla="val 4000"/>
            </a:avLst>
          </a:prstGeom>
          <a:solidFill>
            <a:srgbClr val="FFFFFF"/>
          </a:solidFill>
          <a:ln/>
          <a:effectLst>
            <a:outerShdw sx="100000" sy="100000" kx="0" ky="0" algn="bl" rotWithShape="0" blurRad="76200" dist="25400" dir="5400000">
              <a:srgbClr val="000000">
                <a:alpha val="10000"/>
              </a:srgbClr>
            </a:outerShdw>
          </a:effectLst>
        </p:spPr>
      </p:sp>
      <p:sp>
        <p:nvSpPr>
          <p:cNvPr id="10" name="Shape 8"/>
          <p:cNvSpPr/>
          <p:nvPr/>
        </p:nvSpPr>
        <p:spPr>
          <a:xfrm>
            <a:off x="3703320" y="1691640"/>
            <a:ext cx="2606040" cy="457200"/>
          </a:xfrm>
          <a:prstGeom prst="roundRect">
            <a:avLst>
              <a:gd name="adj" fmla="val 16000"/>
            </a:avLst>
          </a:prstGeom>
          <a:solidFill>
            <a:srgbClr val="1C7293"/>
          </a:solidFill>
          <a:ln/>
        </p:spPr>
      </p:sp>
      <p:sp>
        <p:nvSpPr>
          <p:cNvPr id="11" name="Shape 9"/>
          <p:cNvSpPr/>
          <p:nvPr/>
        </p:nvSpPr>
        <p:spPr>
          <a:xfrm>
            <a:off x="3703320" y="1920240"/>
            <a:ext cx="2606040" cy="228600"/>
          </a:xfrm>
          <a:prstGeom prst="rect">
            <a:avLst/>
          </a:prstGeom>
          <a:solidFill>
            <a:srgbClr val="1C7293"/>
          </a:solidFill>
          <a:ln/>
        </p:spPr>
      </p:sp>
      <p:sp>
        <p:nvSpPr>
          <p:cNvPr id="12" name="Text 10"/>
          <p:cNvSpPr/>
          <p:nvPr/>
        </p:nvSpPr>
        <p:spPr>
          <a:xfrm>
            <a:off x="3886200" y="1691640"/>
            <a:ext cx="22402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Docks</a:t>
            </a:r>
            <a:endParaRPr lang="en-US" sz="1400" dirty="0"/>
          </a:p>
        </p:txBody>
      </p:sp>
      <p:sp>
        <p:nvSpPr>
          <p:cNvPr id="13" name="Text 11"/>
          <p:cNvSpPr/>
          <p:nvPr/>
        </p:nvSpPr>
        <p:spPr>
          <a:xfrm>
            <a:off x="3886200" y="2240280"/>
            <a:ext cx="2240280" cy="1143000"/>
          </a:xfrm>
          <a:prstGeom prst="rect">
            <a:avLst/>
          </a:prstGeom>
          <a:noFill/>
          <a:ln/>
        </p:spPr>
        <p:txBody>
          <a:bodyPr wrap="square" lIns="0" tIns="0" rIns="0" bIns="0" rtlCol="0" anchor="ctr"/>
          <a:lstStyle/>
          <a:p>
            <a:pPr indent="0" marL="0">
              <a:lnSpc>
                <a:spcPct val="105000"/>
              </a:lnSpc>
              <a:buNone/>
            </a:pPr>
            <a:r>
              <a:rPr lang="en-US" sz="1150" dirty="0">
                <a:solidFill>
                  <a:srgbClr val="1B2733"/>
                </a:solidFill>
                <a:latin typeface="Courier New" pitchFamily="34" charset="0"/>
                <a:ea typeface="Courier New" pitchFamily="34" charset="-122"/>
                <a:cs typeface="Courier New" pitchFamily="34" charset="-120"/>
              </a:rPr>
              <a:t>DockID (PK)</a:t>
            </a:r>
            <a:endParaRPr lang="en-US" sz="1150" dirty="0"/>
          </a:p>
          <a:p>
            <a:pPr indent="0" marL="0">
              <a:lnSpc>
                <a:spcPct val="105000"/>
              </a:lnSpc>
              <a:buNone/>
            </a:pPr>
            <a:r>
              <a:rPr lang="en-US" sz="1150" dirty="0">
                <a:solidFill>
                  <a:srgbClr val="1B2733"/>
                </a:solidFill>
                <a:latin typeface="Courier New" pitchFamily="34" charset="0"/>
                <a:ea typeface="Courier New" pitchFamily="34" charset="-122"/>
                <a:cs typeface="Courier New" pitchFamily="34" charset="-120"/>
              </a:rPr>
              <a:t>DockNumber, Location</a:t>
            </a:r>
            <a:endParaRPr lang="en-US" sz="1150" dirty="0"/>
          </a:p>
          <a:p>
            <a:pPr indent="0" marL="0">
              <a:lnSpc>
                <a:spcPct val="105000"/>
              </a:lnSpc>
              <a:buNone/>
            </a:pPr>
            <a:r>
              <a:rPr lang="en-US" sz="1150" dirty="0">
                <a:solidFill>
                  <a:srgbClr val="1B2733"/>
                </a:solidFill>
                <a:latin typeface="Courier New" pitchFamily="34" charset="0"/>
                <a:ea typeface="Courier New" pitchFamily="34" charset="-122"/>
                <a:cs typeface="Courier New" pitchFamily="34" charset="-120"/>
              </a:rPr>
              <a:t>MaxCapacity</a:t>
            </a:r>
            <a:endParaRPr lang="en-US" sz="1150" dirty="0"/>
          </a:p>
          <a:p>
            <a:pPr indent="0" marL="0">
              <a:lnSpc>
                <a:spcPct val="105000"/>
              </a:lnSpc>
              <a:buNone/>
            </a:pPr>
            <a:r>
              <a:rPr lang="en-US" sz="1150" dirty="0">
                <a:solidFill>
                  <a:srgbClr val="1B2733"/>
                </a:solidFill>
                <a:latin typeface="Courier New" pitchFamily="34" charset="0"/>
                <a:ea typeface="Courier New" pitchFamily="34" charset="-122"/>
                <a:cs typeface="Courier New" pitchFamily="34" charset="-120"/>
              </a:rPr>
              <a:t>DockType, Status</a:t>
            </a:r>
            <a:endParaRPr lang="en-US" sz="1150" dirty="0"/>
          </a:p>
        </p:txBody>
      </p:sp>
      <p:sp>
        <p:nvSpPr>
          <p:cNvPr id="14" name="Shape 12"/>
          <p:cNvSpPr/>
          <p:nvPr/>
        </p:nvSpPr>
        <p:spPr>
          <a:xfrm>
            <a:off x="6766560" y="1691640"/>
            <a:ext cx="2606040" cy="1828800"/>
          </a:xfrm>
          <a:prstGeom prst="roundRect">
            <a:avLst>
              <a:gd name="adj" fmla="val 4000"/>
            </a:avLst>
          </a:prstGeom>
          <a:solidFill>
            <a:srgbClr val="FFFFFF"/>
          </a:solidFill>
          <a:ln/>
          <a:effectLst>
            <a:outerShdw sx="100000" sy="100000" kx="0" ky="0" algn="bl" rotWithShape="0" blurRad="76200" dist="25400" dir="5400000">
              <a:srgbClr val="000000">
                <a:alpha val="10000"/>
              </a:srgbClr>
            </a:outerShdw>
          </a:effectLst>
        </p:spPr>
      </p:sp>
      <p:sp>
        <p:nvSpPr>
          <p:cNvPr id="15" name="Shape 13"/>
          <p:cNvSpPr/>
          <p:nvPr/>
        </p:nvSpPr>
        <p:spPr>
          <a:xfrm>
            <a:off x="6766560" y="1691640"/>
            <a:ext cx="2606040" cy="457200"/>
          </a:xfrm>
          <a:prstGeom prst="roundRect">
            <a:avLst>
              <a:gd name="adj" fmla="val 16000"/>
            </a:avLst>
          </a:prstGeom>
          <a:solidFill>
            <a:srgbClr val="1C7293"/>
          </a:solidFill>
          <a:ln/>
        </p:spPr>
      </p:sp>
      <p:sp>
        <p:nvSpPr>
          <p:cNvPr id="16" name="Shape 14"/>
          <p:cNvSpPr/>
          <p:nvPr/>
        </p:nvSpPr>
        <p:spPr>
          <a:xfrm>
            <a:off x="6766560" y="1920240"/>
            <a:ext cx="2606040" cy="228600"/>
          </a:xfrm>
          <a:prstGeom prst="rect">
            <a:avLst/>
          </a:prstGeom>
          <a:solidFill>
            <a:srgbClr val="1C7293"/>
          </a:solidFill>
          <a:ln/>
        </p:spPr>
      </p:sp>
      <p:sp>
        <p:nvSpPr>
          <p:cNvPr id="17" name="Text 15"/>
          <p:cNvSpPr/>
          <p:nvPr/>
        </p:nvSpPr>
        <p:spPr>
          <a:xfrm>
            <a:off x="6949440" y="1691640"/>
            <a:ext cx="22402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Cargo</a:t>
            </a:r>
            <a:endParaRPr lang="en-US" sz="1400" dirty="0"/>
          </a:p>
        </p:txBody>
      </p:sp>
      <p:sp>
        <p:nvSpPr>
          <p:cNvPr id="18" name="Text 16"/>
          <p:cNvSpPr/>
          <p:nvPr/>
        </p:nvSpPr>
        <p:spPr>
          <a:xfrm>
            <a:off x="6949440" y="2240280"/>
            <a:ext cx="2240280" cy="1143000"/>
          </a:xfrm>
          <a:prstGeom prst="rect">
            <a:avLst/>
          </a:prstGeom>
          <a:noFill/>
          <a:ln/>
        </p:spPr>
        <p:txBody>
          <a:bodyPr wrap="square" lIns="0" tIns="0" rIns="0" bIns="0" rtlCol="0" anchor="ctr"/>
          <a:lstStyle/>
          <a:p>
            <a:pPr indent="0" marL="0">
              <a:lnSpc>
                <a:spcPct val="105000"/>
              </a:lnSpc>
              <a:buNone/>
            </a:pPr>
            <a:r>
              <a:rPr lang="en-US" sz="1150" dirty="0">
                <a:solidFill>
                  <a:srgbClr val="1B2733"/>
                </a:solidFill>
                <a:latin typeface="Courier New" pitchFamily="34" charset="0"/>
                <a:ea typeface="Courier New" pitchFamily="34" charset="-122"/>
                <a:cs typeface="Courier New" pitchFamily="34" charset="-120"/>
              </a:rPr>
              <a:t>CargoID (PK)</a:t>
            </a:r>
            <a:endParaRPr lang="en-US" sz="1150" dirty="0"/>
          </a:p>
          <a:p>
            <a:pPr indent="0" marL="0">
              <a:lnSpc>
                <a:spcPct val="105000"/>
              </a:lnSpc>
              <a:buNone/>
            </a:pPr>
            <a:r>
              <a:rPr lang="en-US" sz="1150" dirty="0">
                <a:solidFill>
                  <a:srgbClr val="1B2733"/>
                </a:solidFill>
                <a:latin typeface="Courier New" pitchFamily="34" charset="0"/>
                <a:ea typeface="Courier New" pitchFamily="34" charset="-122"/>
                <a:cs typeface="Courier New" pitchFamily="34" charset="-120"/>
              </a:rPr>
              <a:t>CargoType, Weight</a:t>
            </a:r>
            <a:endParaRPr lang="en-US" sz="1150" dirty="0"/>
          </a:p>
          <a:p>
            <a:pPr indent="0" marL="0">
              <a:lnSpc>
                <a:spcPct val="105000"/>
              </a:lnSpc>
              <a:buNone/>
            </a:pPr>
            <a:r>
              <a:rPr lang="en-US" sz="1150" dirty="0">
                <a:solidFill>
                  <a:srgbClr val="1B2733"/>
                </a:solidFill>
                <a:latin typeface="Courier New" pitchFamily="34" charset="0"/>
                <a:ea typeface="Courier New" pitchFamily="34" charset="-122"/>
                <a:cs typeface="Courier New" pitchFamily="34" charset="-120"/>
              </a:rPr>
              <a:t>OwnerName/Email</a:t>
            </a:r>
            <a:endParaRPr lang="en-US" sz="1150" dirty="0"/>
          </a:p>
          <a:p>
            <a:pPr indent="0" marL="0">
              <a:lnSpc>
                <a:spcPct val="105000"/>
              </a:lnSpc>
              <a:buNone/>
            </a:pPr>
            <a:r>
              <a:rPr lang="en-US" sz="1150" dirty="0">
                <a:solidFill>
                  <a:srgbClr val="1B2733"/>
                </a:solidFill>
                <a:latin typeface="Courier New" pitchFamily="34" charset="0"/>
                <a:ea typeface="Courier New" pitchFamily="34" charset="-122"/>
                <a:cs typeface="Courier New" pitchFamily="34" charset="-120"/>
              </a:rPr>
              <a:t>IsHazardous</a:t>
            </a:r>
            <a:endParaRPr lang="en-US" sz="1150" dirty="0"/>
          </a:p>
        </p:txBody>
      </p:sp>
      <p:sp>
        <p:nvSpPr>
          <p:cNvPr id="19" name="Shape 17"/>
          <p:cNvSpPr/>
          <p:nvPr/>
        </p:nvSpPr>
        <p:spPr>
          <a:xfrm>
            <a:off x="3017520" y="4114800"/>
            <a:ext cx="5486400" cy="1965960"/>
          </a:xfrm>
          <a:prstGeom prst="roundRect">
            <a:avLst>
              <a:gd name="adj" fmla="val 3721"/>
            </a:avLst>
          </a:prstGeom>
          <a:solidFill>
            <a:srgbClr val="FFFFFF"/>
          </a:solidFill>
          <a:ln/>
          <a:effectLst>
            <a:outerShdw sx="100000" sy="100000" kx="0" ky="0" algn="bl" rotWithShape="0" blurRad="76200" dist="25400" dir="5400000">
              <a:srgbClr val="000000">
                <a:alpha val="10000"/>
              </a:srgbClr>
            </a:outerShdw>
          </a:effectLst>
        </p:spPr>
      </p:sp>
      <p:sp>
        <p:nvSpPr>
          <p:cNvPr id="20" name="Shape 18"/>
          <p:cNvSpPr/>
          <p:nvPr/>
        </p:nvSpPr>
        <p:spPr>
          <a:xfrm>
            <a:off x="3017520" y="4114800"/>
            <a:ext cx="5486400" cy="457200"/>
          </a:xfrm>
          <a:prstGeom prst="roundRect">
            <a:avLst>
              <a:gd name="adj" fmla="val 16000"/>
            </a:avLst>
          </a:prstGeom>
          <a:solidFill>
            <a:srgbClr val="065A82"/>
          </a:solidFill>
          <a:ln/>
        </p:spPr>
      </p:sp>
      <p:sp>
        <p:nvSpPr>
          <p:cNvPr id="21" name="Shape 19"/>
          <p:cNvSpPr/>
          <p:nvPr/>
        </p:nvSpPr>
        <p:spPr>
          <a:xfrm>
            <a:off x="3017520" y="4343400"/>
            <a:ext cx="5486400" cy="228600"/>
          </a:xfrm>
          <a:prstGeom prst="rect">
            <a:avLst/>
          </a:prstGeom>
          <a:solidFill>
            <a:srgbClr val="065A82"/>
          </a:solidFill>
          <a:ln/>
        </p:spPr>
      </p:sp>
      <p:sp>
        <p:nvSpPr>
          <p:cNvPr id="22" name="Text 20"/>
          <p:cNvSpPr/>
          <p:nvPr/>
        </p:nvSpPr>
        <p:spPr>
          <a:xfrm>
            <a:off x="3200400" y="4114800"/>
            <a:ext cx="512064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Arrivals  (links Ship + Dock + Cargo)</a:t>
            </a:r>
            <a:endParaRPr lang="en-US" sz="1400" dirty="0"/>
          </a:p>
        </p:txBody>
      </p:sp>
      <p:sp>
        <p:nvSpPr>
          <p:cNvPr id="23" name="Text 21"/>
          <p:cNvSpPr/>
          <p:nvPr/>
        </p:nvSpPr>
        <p:spPr>
          <a:xfrm>
            <a:off x="3200400" y="4663440"/>
            <a:ext cx="5120640" cy="1280160"/>
          </a:xfrm>
          <a:prstGeom prst="rect">
            <a:avLst/>
          </a:prstGeom>
          <a:noFill/>
          <a:ln/>
        </p:spPr>
        <p:txBody>
          <a:bodyPr wrap="square" lIns="0" tIns="0" rIns="0" bIns="0" rtlCol="0" anchor="ctr"/>
          <a:lstStyle/>
          <a:p>
            <a:pPr indent="0" marL="0">
              <a:lnSpc>
                <a:spcPct val="105000"/>
              </a:lnSpc>
              <a:buNone/>
            </a:pPr>
            <a:r>
              <a:rPr lang="en-US" sz="1150" dirty="0">
                <a:solidFill>
                  <a:srgbClr val="1B2733"/>
                </a:solidFill>
                <a:latin typeface="Courier New" pitchFamily="34" charset="0"/>
                <a:ea typeface="Courier New" pitchFamily="34" charset="-122"/>
                <a:cs typeface="Courier New" pitchFamily="34" charset="-120"/>
              </a:rPr>
              <a:t>ArrivalID (PK)</a:t>
            </a:r>
            <a:endParaRPr lang="en-US" sz="1150" dirty="0"/>
          </a:p>
          <a:p>
            <a:pPr indent="0" marL="0">
              <a:lnSpc>
                <a:spcPct val="105000"/>
              </a:lnSpc>
              <a:buNone/>
            </a:pPr>
            <a:r>
              <a:rPr lang="en-US" sz="1150" dirty="0">
                <a:solidFill>
                  <a:srgbClr val="1B2733"/>
                </a:solidFill>
                <a:latin typeface="Courier New" pitchFamily="34" charset="0"/>
                <a:ea typeface="Courier New" pitchFamily="34" charset="-122"/>
                <a:cs typeface="Courier New" pitchFamily="34" charset="-120"/>
              </a:rPr>
              <a:t>ShipID (FK), DockID (FK), CargoID (FK)</a:t>
            </a:r>
            <a:endParaRPr lang="en-US" sz="1150" dirty="0"/>
          </a:p>
          <a:p>
            <a:pPr indent="0" marL="0">
              <a:lnSpc>
                <a:spcPct val="105000"/>
              </a:lnSpc>
              <a:buNone/>
            </a:pPr>
            <a:r>
              <a:rPr lang="en-US" sz="1150" dirty="0">
                <a:solidFill>
                  <a:srgbClr val="1B2733"/>
                </a:solidFill>
                <a:latin typeface="Courier New" pitchFamily="34" charset="0"/>
                <a:ea typeface="Courier New" pitchFamily="34" charset="-122"/>
                <a:cs typeface="Courier New" pitchFamily="34" charset="-120"/>
              </a:rPr>
              <a:t>ArrivalDate, DepartureDate</a:t>
            </a:r>
            <a:endParaRPr lang="en-US" sz="1150" dirty="0"/>
          </a:p>
          <a:p>
            <a:pPr indent="0" marL="0">
              <a:lnSpc>
                <a:spcPct val="105000"/>
              </a:lnSpc>
              <a:buNone/>
            </a:pPr>
            <a:r>
              <a:rPr lang="en-US" sz="1150" dirty="0">
                <a:solidFill>
                  <a:srgbClr val="1B2733"/>
                </a:solidFill>
                <a:latin typeface="Courier New" pitchFamily="34" charset="0"/>
                <a:ea typeface="Courier New" pitchFamily="34" charset="-122"/>
                <a:cs typeface="Courier New" pitchFamily="34" charset="-120"/>
              </a:rPr>
              <a:t>Status (Pending / Arrived / Departed)</a:t>
            </a:r>
            <a:endParaRPr lang="en-US" sz="1150" dirty="0"/>
          </a:p>
          <a:p>
            <a:pPr indent="0" marL="0">
              <a:lnSpc>
                <a:spcPct val="105000"/>
              </a:lnSpc>
              <a:buNone/>
            </a:pPr>
            <a:r>
              <a:rPr lang="en-US" sz="1150" dirty="0">
                <a:solidFill>
                  <a:srgbClr val="1B2733"/>
                </a:solidFill>
                <a:latin typeface="Courier New" pitchFamily="34" charset="0"/>
                <a:ea typeface="Courier New" pitchFamily="34" charset="-122"/>
                <a:cs typeface="Courier New" pitchFamily="34" charset="-120"/>
              </a:rPr>
              <a:t>Notes</a:t>
            </a:r>
            <a:endParaRPr lang="en-US" sz="1150" dirty="0"/>
          </a:p>
        </p:txBody>
      </p:sp>
      <p:sp>
        <p:nvSpPr>
          <p:cNvPr id="24" name="Shape 22"/>
          <p:cNvSpPr/>
          <p:nvPr/>
        </p:nvSpPr>
        <p:spPr>
          <a:xfrm>
            <a:off x="1938528" y="3520440"/>
            <a:ext cx="0" cy="594360"/>
          </a:xfrm>
          <a:prstGeom prst="line">
            <a:avLst/>
          </a:prstGeom>
          <a:noFill/>
          <a:ln w="19050">
            <a:solidFill>
              <a:srgbClr val="9AAAB8"/>
            </a:solidFill>
            <a:prstDash val="dash"/>
          </a:ln>
        </p:spPr>
      </p:sp>
      <p:sp>
        <p:nvSpPr>
          <p:cNvPr id="25" name="Shape 23"/>
          <p:cNvSpPr/>
          <p:nvPr/>
        </p:nvSpPr>
        <p:spPr>
          <a:xfrm>
            <a:off x="5001768" y="3520440"/>
            <a:ext cx="0" cy="594360"/>
          </a:xfrm>
          <a:prstGeom prst="line">
            <a:avLst/>
          </a:prstGeom>
          <a:noFill/>
          <a:ln w="19050">
            <a:solidFill>
              <a:srgbClr val="9AAAB8"/>
            </a:solidFill>
            <a:prstDash val="dash"/>
          </a:ln>
        </p:spPr>
      </p:sp>
      <p:sp>
        <p:nvSpPr>
          <p:cNvPr id="26" name="Shape 24"/>
          <p:cNvSpPr/>
          <p:nvPr/>
        </p:nvSpPr>
        <p:spPr>
          <a:xfrm>
            <a:off x="8065008" y="3520440"/>
            <a:ext cx="0" cy="594360"/>
          </a:xfrm>
          <a:prstGeom prst="line">
            <a:avLst/>
          </a:prstGeom>
          <a:noFill/>
          <a:ln w="19050">
            <a:solidFill>
              <a:srgbClr val="9AAAB8"/>
            </a:solidFill>
            <a:prstDash val="dash"/>
          </a:ln>
        </p:spPr>
      </p:sp>
      <p:sp>
        <p:nvSpPr>
          <p:cNvPr id="27" name="Text 25"/>
          <p:cNvSpPr/>
          <p:nvPr/>
        </p:nvSpPr>
        <p:spPr>
          <a:xfrm>
            <a:off x="640080" y="6309360"/>
            <a:ext cx="10881360" cy="365760"/>
          </a:xfrm>
          <a:prstGeom prst="rect">
            <a:avLst/>
          </a:prstGeom>
          <a:noFill/>
          <a:ln/>
        </p:spPr>
        <p:txBody>
          <a:bodyPr wrap="square" lIns="0" tIns="0" rIns="0" bIns="0" rtlCol="0" anchor="ctr"/>
          <a:lstStyle/>
          <a:p>
            <a:pPr indent="0" marL="0">
              <a:buNone/>
            </a:pPr>
            <a:r>
              <a:rPr lang="en-US" sz="1200" i="1" dirty="0">
                <a:solidFill>
                  <a:srgbClr val="5A7184"/>
                </a:solidFill>
                <a:latin typeface="Calibri" pitchFamily="34" charset="0"/>
                <a:ea typeface="Calibri" pitchFamily="34" charset="-122"/>
                <a:cs typeface="Calibri" pitchFamily="34" charset="-120"/>
              </a:rPr>
              <a:t>Referential integrity (e.g. can't delete a ship with existing arrivals) is enforced in application code before each write/delete.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8229600" cy="64008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System Demonstration</a:t>
            </a:r>
            <a:endParaRPr lang="en-US" sz="3200" dirty="0"/>
          </a:p>
        </p:txBody>
      </p:sp>
      <p:sp>
        <p:nvSpPr>
          <p:cNvPr id="3" name="Text 1"/>
          <p:cNvSpPr/>
          <p:nvPr/>
        </p:nvSpPr>
        <p:spPr>
          <a:xfrm>
            <a:off x="640080" y="1097280"/>
            <a:ext cx="8229600" cy="365760"/>
          </a:xfrm>
          <a:prstGeom prst="rect">
            <a:avLst/>
          </a:prstGeom>
          <a:noFill/>
          <a:ln/>
        </p:spPr>
        <p:txBody>
          <a:bodyPr wrap="square" lIns="0" tIns="0" rIns="0" bIns="0" rtlCol="0" anchor="ctr"/>
          <a:lstStyle/>
          <a:p>
            <a:pPr indent="0" marL="0">
              <a:buNone/>
            </a:pPr>
            <a:r>
              <a:rPr lang="en-US" sz="1500" dirty="0">
                <a:solidFill>
                  <a:srgbClr val="5A7184"/>
                </a:solidFill>
                <a:latin typeface="Calibri" pitchFamily="34" charset="0"/>
                <a:ea typeface="Calibri" pitchFamily="34" charset="-122"/>
                <a:cs typeface="Calibri" pitchFamily="34" charset="-120"/>
              </a:rPr>
              <a:t>Live walkthrough plan</a:t>
            </a:r>
            <a:endParaRPr lang="en-US" sz="1500" dirty="0"/>
          </a:p>
        </p:txBody>
      </p:sp>
      <p:sp>
        <p:nvSpPr>
          <p:cNvPr id="4" name="Shape 2"/>
          <p:cNvSpPr/>
          <p:nvPr/>
        </p:nvSpPr>
        <p:spPr>
          <a:xfrm>
            <a:off x="640080" y="2377440"/>
            <a:ext cx="1600200" cy="2651760"/>
          </a:xfrm>
          <a:prstGeom prst="roundRect">
            <a:avLst>
              <a:gd name="adj" fmla="val 5714"/>
            </a:avLst>
          </a:prstGeom>
          <a:solidFill>
            <a:srgbClr val="065A82"/>
          </a:solidFill>
          <a:ln/>
        </p:spPr>
      </p:sp>
      <p:sp>
        <p:nvSpPr>
          <p:cNvPr id="5" name="Text 3"/>
          <p:cNvSpPr/>
          <p:nvPr/>
        </p:nvSpPr>
        <p:spPr>
          <a:xfrm>
            <a:off x="777240" y="2542032"/>
            <a:ext cx="1325880" cy="548640"/>
          </a:xfrm>
          <a:prstGeom prst="rect">
            <a:avLst/>
          </a:prstGeom>
          <a:noFill/>
          <a:ln/>
        </p:spPr>
        <p:txBody>
          <a:bodyPr wrap="square" lIns="0" tIns="0" rIns="0" bIns="0" rtlCol="0" anchor="ctr"/>
          <a:lstStyle/>
          <a:p>
            <a:pPr indent="0" marL="0">
              <a:buNone/>
            </a:pPr>
            <a:r>
              <a:rPr lang="en-US" sz="2600" b="1" dirty="0">
                <a:solidFill>
                  <a:srgbClr val="FFFFFF">
                    <a:alpha val="45000"/>
                  </a:srgbClr>
                </a:solidFill>
                <a:latin typeface="Cambria" pitchFamily="34" charset="0"/>
                <a:ea typeface="Cambria" pitchFamily="34" charset="-122"/>
                <a:cs typeface="Cambria" pitchFamily="34" charset="-120"/>
              </a:rPr>
              <a:t>1</a:t>
            </a:r>
            <a:endParaRPr lang="en-US" sz="2600" dirty="0"/>
          </a:p>
        </p:txBody>
      </p:sp>
      <p:sp>
        <p:nvSpPr>
          <p:cNvPr id="6" name="Text 4"/>
          <p:cNvSpPr/>
          <p:nvPr/>
        </p:nvSpPr>
        <p:spPr>
          <a:xfrm>
            <a:off x="777240" y="3291840"/>
            <a:ext cx="13258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Login</a:t>
            </a:r>
            <a:endParaRPr lang="en-US" sz="1400" dirty="0"/>
          </a:p>
        </p:txBody>
      </p:sp>
      <p:sp>
        <p:nvSpPr>
          <p:cNvPr id="7" name="Text 5"/>
          <p:cNvSpPr/>
          <p:nvPr/>
        </p:nvSpPr>
        <p:spPr>
          <a:xfrm>
            <a:off x="777240" y="3749040"/>
            <a:ext cx="1325880" cy="1188720"/>
          </a:xfrm>
          <a:prstGeom prst="rect">
            <a:avLst/>
          </a:prstGeom>
          <a:noFill/>
          <a:ln/>
        </p:spPr>
        <p:txBody>
          <a:bodyPr wrap="square" lIns="0" tIns="0" rIns="0" bIns="0" rtlCol="0" anchor="ctr"/>
          <a:lstStyle/>
          <a:p>
            <a:pPr indent="0" marL="0">
              <a:lnSpc>
                <a:spcPct val="110000"/>
              </a:lnSpc>
              <a:buNone/>
            </a:pPr>
            <a:r>
              <a:rPr lang="en-US" sz="1100" dirty="0">
                <a:solidFill>
                  <a:srgbClr val="E4EEF3"/>
                </a:solidFill>
                <a:latin typeface="Calibri" pitchFamily="34" charset="0"/>
                <a:ea typeface="Calibri" pitchFamily="34" charset="-122"/>
                <a:cs typeface="Calibri" pitchFamily="34" charset="-120"/>
              </a:rPr>
              <a:t>Sign in to unlock the management area</a:t>
            </a:r>
            <a:endParaRPr lang="en-US" sz="1100" dirty="0"/>
          </a:p>
        </p:txBody>
      </p:sp>
      <p:pic>
        <p:nvPicPr>
          <p:cNvPr id="8" name="Image 0" descr="preencoded.png">    </p:cNvPr>
          <p:cNvPicPr>
            <a:picLocks noChangeAspect="1"/>
          </p:cNvPicPr>
          <p:nvPr/>
        </p:nvPicPr>
        <p:blipFill>
          <a:blip r:embed="rId1"/>
          <a:stretch>
            <a:fillRect/>
          </a:stretch>
        </p:blipFill>
        <p:spPr>
          <a:xfrm>
            <a:off x="2258568" y="3474720"/>
            <a:ext cx="219456" cy="219456"/>
          </a:xfrm>
          <a:prstGeom prst="rect">
            <a:avLst/>
          </a:prstGeom>
        </p:spPr>
      </p:pic>
      <p:sp>
        <p:nvSpPr>
          <p:cNvPr id="9" name="Shape 6"/>
          <p:cNvSpPr/>
          <p:nvPr/>
        </p:nvSpPr>
        <p:spPr>
          <a:xfrm>
            <a:off x="2496312" y="2377440"/>
            <a:ext cx="1600200" cy="2651760"/>
          </a:xfrm>
          <a:prstGeom prst="roundRect">
            <a:avLst>
              <a:gd name="adj" fmla="val 5714"/>
            </a:avLst>
          </a:prstGeom>
          <a:solidFill>
            <a:srgbClr val="1C7293"/>
          </a:solidFill>
          <a:ln/>
        </p:spPr>
      </p:sp>
      <p:sp>
        <p:nvSpPr>
          <p:cNvPr id="10" name="Text 7"/>
          <p:cNvSpPr/>
          <p:nvPr/>
        </p:nvSpPr>
        <p:spPr>
          <a:xfrm>
            <a:off x="2633472" y="2542032"/>
            <a:ext cx="1325880" cy="548640"/>
          </a:xfrm>
          <a:prstGeom prst="rect">
            <a:avLst/>
          </a:prstGeom>
          <a:noFill/>
          <a:ln/>
        </p:spPr>
        <p:txBody>
          <a:bodyPr wrap="square" lIns="0" tIns="0" rIns="0" bIns="0" rtlCol="0" anchor="ctr"/>
          <a:lstStyle/>
          <a:p>
            <a:pPr indent="0" marL="0">
              <a:buNone/>
            </a:pPr>
            <a:r>
              <a:rPr lang="en-US" sz="2600" b="1" dirty="0">
                <a:solidFill>
                  <a:srgbClr val="FFFFFF">
                    <a:alpha val="45000"/>
                  </a:srgbClr>
                </a:solidFill>
                <a:latin typeface="Cambria" pitchFamily="34" charset="0"/>
                <a:ea typeface="Cambria" pitchFamily="34" charset="-122"/>
                <a:cs typeface="Cambria" pitchFamily="34" charset="-120"/>
              </a:rPr>
              <a:t>2</a:t>
            </a:r>
            <a:endParaRPr lang="en-US" sz="2600" dirty="0"/>
          </a:p>
        </p:txBody>
      </p:sp>
      <p:sp>
        <p:nvSpPr>
          <p:cNvPr id="11" name="Text 8"/>
          <p:cNvSpPr/>
          <p:nvPr/>
        </p:nvSpPr>
        <p:spPr>
          <a:xfrm>
            <a:off x="2633472" y="3291840"/>
            <a:ext cx="13258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Add a Ship</a:t>
            </a:r>
            <a:endParaRPr lang="en-US" sz="1400" dirty="0"/>
          </a:p>
        </p:txBody>
      </p:sp>
      <p:sp>
        <p:nvSpPr>
          <p:cNvPr id="12" name="Text 9"/>
          <p:cNvSpPr/>
          <p:nvPr/>
        </p:nvSpPr>
        <p:spPr>
          <a:xfrm>
            <a:off x="2633472" y="3749040"/>
            <a:ext cx="1325880" cy="1188720"/>
          </a:xfrm>
          <a:prstGeom prst="rect">
            <a:avLst/>
          </a:prstGeom>
          <a:noFill/>
          <a:ln/>
        </p:spPr>
        <p:txBody>
          <a:bodyPr wrap="square" lIns="0" tIns="0" rIns="0" bIns="0" rtlCol="0" anchor="ctr"/>
          <a:lstStyle/>
          <a:p>
            <a:pPr indent="0" marL="0">
              <a:lnSpc>
                <a:spcPct val="110000"/>
              </a:lnSpc>
              <a:buNone/>
            </a:pPr>
            <a:r>
              <a:rPr lang="en-US" sz="1100" dirty="0">
                <a:solidFill>
                  <a:srgbClr val="E4EEF3"/>
                </a:solidFill>
                <a:latin typeface="Calibri" pitchFamily="34" charset="0"/>
                <a:ea typeface="Calibri" pitchFamily="34" charset="-122"/>
                <a:cs typeface="Calibri" pitchFamily="34" charset="-120"/>
              </a:rPr>
              <a:t>Register a new ship with its details</a:t>
            </a:r>
            <a:endParaRPr lang="en-US" sz="1100" dirty="0"/>
          </a:p>
        </p:txBody>
      </p:sp>
      <p:pic>
        <p:nvPicPr>
          <p:cNvPr id="13" name="Image 1" descr="preencoded.png">    </p:cNvPr>
          <p:cNvPicPr>
            <a:picLocks noChangeAspect="1"/>
          </p:cNvPicPr>
          <p:nvPr/>
        </p:nvPicPr>
        <p:blipFill>
          <a:blip r:embed="rId2"/>
          <a:stretch>
            <a:fillRect/>
          </a:stretch>
        </p:blipFill>
        <p:spPr>
          <a:xfrm>
            <a:off x="4114800" y="3474720"/>
            <a:ext cx="219456" cy="219456"/>
          </a:xfrm>
          <a:prstGeom prst="rect">
            <a:avLst/>
          </a:prstGeom>
        </p:spPr>
      </p:pic>
      <p:sp>
        <p:nvSpPr>
          <p:cNvPr id="14" name="Shape 10"/>
          <p:cNvSpPr/>
          <p:nvPr/>
        </p:nvSpPr>
        <p:spPr>
          <a:xfrm>
            <a:off x="4352544" y="2377440"/>
            <a:ext cx="1600200" cy="2651760"/>
          </a:xfrm>
          <a:prstGeom prst="roundRect">
            <a:avLst>
              <a:gd name="adj" fmla="val 5714"/>
            </a:avLst>
          </a:prstGeom>
          <a:solidFill>
            <a:srgbClr val="065A82"/>
          </a:solidFill>
          <a:ln/>
        </p:spPr>
      </p:sp>
      <p:sp>
        <p:nvSpPr>
          <p:cNvPr id="15" name="Text 11"/>
          <p:cNvSpPr/>
          <p:nvPr/>
        </p:nvSpPr>
        <p:spPr>
          <a:xfrm>
            <a:off x="4489704" y="2542032"/>
            <a:ext cx="1325880" cy="548640"/>
          </a:xfrm>
          <a:prstGeom prst="rect">
            <a:avLst/>
          </a:prstGeom>
          <a:noFill/>
          <a:ln/>
        </p:spPr>
        <p:txBody>
          <a:bodyPr wrap="square" lIns="0" tIns="0" rIns="0" bIns="0" rtlCol="0" anchor="ctr"/>
          <a:lstStyle/>
          <a:p>
            <a:pPr indent="0" marL="0">
              <a:buNone/>
            </a:pPr>
            <a:r>
              <a:rPr lang="en-US" sz="2600" b="1" dirty="0">
                <a:solidFill>
                  <a:srgbClr val="FFFFFF">
                    <a:alpha val="45000"/>
                  </a:srgbClr>
                </a:solidFill>
                <a:latin typeface="Cambria" pitchFamily="34" charset="0"/>
                <a:ea typeface="Cambria" pitchFamily="34" charset="-122"/>
                <a:cs typeface="Cambria" pitchFamily="34" charset="-120"/>
              </a:rPr>
              <a:t>3</a:t>
            </a:r>
            <a:endParaRPr lang="en-US" sz="2600" dirty="0"/>
          </a:p>
        </p:txBody>
      </p:sp>
      <p:sp>
        <p:nvSpPr>
          <p:cNvPr id="16" name="Text 12"/>
          <p:cNvSpPr/>
          <p:nvPr/>
        </p:nvSpPr>
        <p:spPr>
          <a:xfrm>
            <a:off x="4489704" y="3291840"/>
            <a:ext cx="13258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Add a Dock</a:t>
            </a:r>
            <a:endParaRPr lang="en-US" sz="1400" dirty="0"/>
          </a:p>
        </p:txBody>
      </p:sp>
      <p:sp>
        <p:nvSpPr>
          <p:cNvPr id="17" name="Text 13"/>
          <p:cNvSpPr/>
          <p:nvPr/>
        </p:nvSpPr>
        <p:spPr>
          <a:xfrm>
            <a:off x="4489704" y="3749040"/>
            <a:ext cx="1325880" cy="1188720"/>
          </a:xfrm>
          <a:prstGeom prst="rect">
            <a:avLst/>
          </a:prstGeom>
          <a:noFill/>
          <a:ln/>
        </p:spPr>
        <p:txBody>
          <a:bodyPr wrap="square" lIns="0" tIns="0" rIns="0" bIns="0" rtlCol="0" anchor="ctr"/>
          <a:lstStyle/>
          <a:p>
            <a:pPr indent="0" marL="0">
              <a:lnSpc>
                <a:spcPct val="110000"/>
              </a:lnSpc>
              <a:buNone/>
            </a:pPr>
            <a:r>
              <a:rPr lang="en-US" sz="1100" dirty="0">
                <a:solidFill>
                  <a:srgbClr val="E4EEF3"/>
                </a:solidFill>
                <a:latin typeface="Calibri" pitchFamily="34" charset="0"/>
                <a:ea typeface="Calibri" pitchFamily="34" charset="-122"/>
                <a:cs typeface="Calibri" pitchFamily="34" charset="-120"/>
              </a:rPr>
              <a:t>Create a dock and mark its status</a:t>
            </a:r>
            <a:endParaRPr lang="en-US" sz="1100" dirty="0"/>
          </a:p>
        </p:txBody>
      </p:sp>
      <p:pic>
        <p:nvPicPr>
          <p:cNvPr id="18" name="Image 2" descr="preencoded.png">    </p:cNvPr>
          <p:cNvPicPr>
            <a:picLocks noChangeAspect="1"/>
          </p:cNvPicPr>
          <p:nvPr/>
        </p:nvPicPr>
        <p:blipFill>
          <a:blip r:embed="rId3"/>
          <a:stretch>
            <a:fillRect/>
          </a:stretch>
        </p:blipFill>
        <p:spPr>
          <a:xfrm>
            <a:off x="5971032" y="3474720"/>
            <a:ext cx="219456" cy="219456"/>
          </a:xfrm>
          <a:prstGeom prst="rect">
            <a:avLst/>
          </a:prstGeom>
        </p:spPr>
      </p:pic>
      <p:sp>
        <p:nvSpPr>
          <p:cNvPr id="19" name="Shape 14"/>
          <p:cNvSpPr/>
          <p:nvPr/>
        </p:nvSpPr>
        <p:spPr>
          <a:xfrm>
            <a:off x="6208776" y="2377440"/>
            <a:ext cx="1600200" cy="2651760"/>
          </a:xfrm>
          <a:prstGeom prst="roundRect">
            <a:avLst>
              <a:gd name="adj" fmla="val 5714"/>
            </a:avLst>
          </a:prstGeom>
          <a:solidFill>
            <a:srgbClr val="1C7293"/>
          </a:solidFill>
          <a:ln/>
        </p:spPr>
      </p:sp>
      <p:sp>
        <p:nvSpPr>
          <p:cNvPr id="20" name="Text 15"/>
          <p:cNvSpPr/>
          <p:nvPr/>
        </p:nvSpPr>
        <p:spPr>
          <a:xfrm>
            <a:off x="6345936" y="2542032"/>
            <a:ext cx="1325880" cy="548640"/>
          </a:xfrm>
          <a:prstGeom prst="rect">
            <a:avLst/>
          </a:prstGeom>
          <a:noFill/>
          <a:ln/>
        </p:spPr>
        <p:txBody>
          <a:bodyPr wrap="square" lIns="0" tIns="0" rIns="0" bIns="0" rtlCol="0" anchor="ctr"/>
          <a:lstStyle/>
          <a:p>
            <a:pPr indent="0" marL="0">
              <a:buNone/>
            </a:pPr>
            <a:r>
              <a:rPr lang="en-US" sz="2600" b="1" dirty="0">
                <a:solidFill>
                  <a:srgbClr val="FFFFFF">
                    <a:alpha val="45000"/>
                  </a:srgbClr>
                </a:solidFill>
                <a:latin typeface="Cambria" pitchFamily="34" charset="0"/>
                <a:ea typeface="Cambria" pitchFamily="34" charset="-122"/>
                <a:cs typeface="Cambria" pitchFamily="34" charset="-120"/>
              </a:rPr>
              <a:t>4</a:t>
            </a:r>
            <a:endParaRPr lang="en-US" sz="2600" dirty="0"/>
          </a:p>
        </p:txBody>
      </p:sp>
      <p:sp>
        <p:nvSpPr>
          <p:cNvPr id="21" name="Text 16"/>
          <p:cNvSpPr/>
          <p:nvPr/>
        </p:nvSpPr>
        <p:spPr>
          <a:xfrm>
            <a:off x="6345936" y="3291840"/>
            <a:ext cx="13258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Add Cargo</a:t>
            </a:r>
            <a:endParaRPr lang="en-US" sz="1400" dirty="0"/>
          </a:p>
        </p:txBody>
      </p:sp>
      <p:sp>
        <p:nvSpPr>
          <p:cNvPr id="22" name="Text 17"/>
          <p:cNvSpPr/>
          <p:nvPr/>
        </p:nvSpPr>
        <p:spPr>
          <a:xfrm>
            <a:off x="6345936" y="3749040"/>
            <a:ext cx="1325880" cy="1188720"/>
          </a:xfrm>
          <a:prstGeom prst="rect">
            <a:avLst/>
          </a:prstGeom>
          <a:noFill/>
          <a:ln/>
        </p:spPr>
        <p:txBody>
          <a:bodyPr wrap="square" lIns="0" tIns="0" rIns="0" bIns="0" rtlCol="0" anchor="ctr"/>
          <a:lstStyle/>
          <a:p>
            <a:pPr indent="0" marL="0">
              <a:lnSpc>
                <a:spcPct val="110000"/>
              </a:lnSpc>
              <a:buNone/>
            </a:pPr>
            <a:r>
              <a:rPr lang="en-US" sz="1100" dirty="0">
                <a:solidFill>
                  <a:srgbClr val="E4EEF3"/>
                </a:solidFill>
                <a:latin typeface="Calibri" pitchFamily="34" charset="0"/>
                <a:ea typeface="Calibri" pitchFamily="34" charset="-122"/>
                <a:cs typeface="Calibri" pitchFamily="34" charset="-120"/>
              </a:rPr>
              <a:t>Log a cargo record for the shipment</a:t>
            </a:r>
            <a:endParaRPr lang="en-US" sz="1100" dirty="0"/>
          </a:p>
        </p:txBody>
      </p:sp>
      <p:pic>
        <p:nvPicPr>
          <p:cNvPr id="23" name="Image 3" descr="preencoded.png">    </p:cNvPr>
          <p:cNvPicPr>
            <a:picLocks noChangeAspect="1"/>
          </p:cNvPicPr>
          <p:nvPr/>
        </p:nvPicPr>
        <p:blipFill>
          <a:blip r:embed="rId4"/>
          <a:stretch>
            <a:fillRect/>
          </a:stretch>
        </p:blipFill>
        <p:spPr>
          <a:xfrm>
            <a:off x="7827264" y="3474720"/>
            <a:ext cx="219456" cy="219456"/>
          </a:xfrm>
          <a:prstGeom prst="rect">
            <a:avLst/>
          </a:prstGeom>
        </p:spPr>
      </p:pic>
      <p:sp>
        <p:nvSpPr>
          <p:cNvPr id="24" name="Shape 18"/>
          <p:cNvSpPr/>
          <p:nvPr/>
        </p:nvSpPr>
        <p:spPr>
          <a:xfrm>
            <a:off x="8065008" y="2377440"/>
            <a:ext cx="1600200" cy="2651760"/>
          </a:xfrm>
          <a:prstGeom prst="roundRect">
            <a:avLst>
              <a:gd name="adj" fmla="val 5714"/>
            </a:avLst>
          </a:prstGeom>
          <a:solidFill>
            <a:srgbClr val="065A82"/>
          </a:solidFill>
          <a:ln/>
        </p:spPr>
      </p:sp>
      <p:sp>
        <p:nvSpPr>
          <p:cNvPr id="25" name="Text 19"/>
          <p:cNvSpPr/>
          <p:nvPr/>
        </p:nvSpPr>
        <p:spPr>
          <a:xfrm>
            <a:off x="8202168" y="2542032"/>
            <a:ext cx="1325880" cy="548640"/>
          </a:xfrm>
          <a:prstGeom prst="rect">
            <a:avLst/>
          </a:prstGeom>
          <a:noFill/>
          <a:ln/>
        </p:spPr>
        <p:txBody>
          <a:bodyPr wrap="square" lIns="0" tIns="0" rIns="0" bIns="0" rtlCol="0" anchor="ctr"/>
          <a:lstStyle/>
          <a:p>
            <a:pPr indent="0" marL="0">
              <a:buNone/>
            </a:pPr>
            <a:r>
              <a:rPr lang="en-US" sz="2600" b="1" dirty="0">
                <a:solidFill>
                  <a:srgbClr val="FFFFFF">
                    <a:alpha val="45000"/>
                  </a:srgbClr>
                </a:solidFill>
                <a:latin typeface="Cambria" pitchFamily="34" charset="0"/>
                <a:ea typeface="Cambria" pitchFamily="34" charset="-122"/>
                <a:cs typeface="Cambria" pitchFamily="34" charset="-120"/>
              </a:rPr>
              <a:t>5</a:t>
            </a:r>
            <a:endParaRPr lang="en-US" sz="2600" dirty="0"/>
          </a:p>
        </p:txBody>
      </p:sp>
      <p:sp>
        <p:nvSpPr>
          <p:cNvPr id="26" name="Text 20"/>
          <p:cNvSpPr/>
          <p:nvPr/>
        </p:nvSpPr>
        <p:spPr>
          <a:xfrm>
            <a:off x="8202168" y="3291840"/>
            <a:ext cx="13258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Record Arrival</a:t>
            </a:r>
            <a:endParaRPr lang="en-US" sz="1400" dirty="0"/>
          </a:p>
        </p:txBody>
      </p:sp>
      <p:sp>
        <p:nvSpPr>
          <p:cNvPr id="27" name="Text 21"/>
          <p:cNvSpPr/>
          <p:nvPr/>
        </p:nvSpPr>
        <p:spPr>
          <a:xfrm>
            <a:off x="8202168" y="3749040"/>
            <a:ext cx="1325880" cy="1188720"/>
          </a:xfrm>
          <a:prstGeom prst="rect">
            <a:avLst/>
          </a:prstGeom>
          <a:noFill/>
          <a:ln/>
        </p:spPr>
        <p:txBody>
          <a:bodyPr wrap="square" lIns="0" tIns="0" rIns="0" bIns="0" rtlCol="0" anchor="ctr"/>
          <a:lstStyle/>
          <a:p>
            <a:pPr indent="0" marL="0">
              <a:lnSpc>
                <a:spcPct val="110000"/>
              </a:lnSpc>
              <a:buNone/>
            </a:pPr>
            <a:r>
              <a:rPr lang="en-US" sz="1100" dirty="0">
                <a:solidFill>
                  <a:srgbClr val="E4EEF3"/>
                </a:solidFill>
                <a:latin typeface="Calibri" pitchFamily="34" charset="0"/>
                <a:ea typeface="Calibri" pitchFamily="34" charset="-122"/>
                <a:cs typeface="Calibri" pitchFamily="34" charset="-120"/>
              </a:rPr>
              <a:t>Link ship + dock + cargo with dates</a:t>
            </a:r>
            <a:endParaRPr lang="en-US" sz="1100" dirty="0"/>
          </a:p>
        </p:txBody>
      </p:sp>
      <p:pic>
        <p:nvPicPr>
          <p:cNvPr id="28" name="Image 4" descr="preencoded.png">    </p:cNvPr>
          <p:cNvPicPr>
            <a:picLocks noChangeAspect="1"/>
          </p:cNvPicPr>
          <p:nvPr/>
        </p:nvPicPr>
        <p:blipFill>
          <a:blip r:embed="rId5"/>
          <a:stretch>
            <a:fillRect/>
          </a:stretch>
        </p:blipFill>
        <p:spPr>
          <a:xfrm>
            <a:off x="9683496" y="3474720"/>
            <a:ext cx="219456" cy="219456"/>
          </a:xfrm>
          <a:prstGeom prst="rect">
            <a:avLst/>
          </a:prstGeom>
        </p:spPr>
      </p:pic>
      <p:sp>
        <p:nvSpPr>
          <p:cNvPr id="29" name="Shape 22"/>
          <p:cNvSpPr/>
          <p:nvPr/>
        </p:nvSpPr>
        <p:spPr>
          <a:xfrm>
            <a:off x="9921240" y="2377440"/>
            <a:ext cx="1600200" cy="2651760"/>
          </a:xfrm>
          <a:prstGeom prst="roundRect">
            <a:avLst>
              <a:gd name="adj" fmla="val 5714"/>
            </a:avLst>
          </a:prstGeom>
          <a:solidFill>
            <a:srgbClr val="1C7293"/>
          </a:solidFill>
          <a:ln/>
        </p:spPr>
      </p:sp>
      <p:sp>
        <p:nvSpPr>
          <p:cNvPr id="30" name="Text 23"/>
          <p:cNvSpPr/>
          <p:nvPr/>
        </p:nvSpPr>
        <p:spPr>
          <a:xfrm>
            <a:off x="10058400" y="2542032"/>
            <a:ext cx="1325880" cy="548640"/>
          </a:xfrm>
          <a:prstGeom prst="rect">
            <a:avLst/>
          </a:prstGeom>
          <a:noFill/>
          <a:ln/>
        </p:spPr>
        <p:txBody>
          <a:bodyPr wrap="square" lIns="0" tIns="0" rIns="0" bIns="0" rtlCol="0" anchor="ctr"/>
          <a:lstStyle/>
          <a:p>
            <a:pPr indent="0" marL="0">
              <a:buNone/>
            </a:pPr>
            <a:r>
              <a:rPr lang="en-US" sz="2600" b="1" dirty="0">
                <a:solidFill>
                  <a:srgbClr val="FFFFFF">
                    <a:alpha val="45000"/>
                  </a:srgbClr>
                </a:solidFill>
                <a:latin typeface="Cambria" pitchFamily="34" charset="0"/>
                <a:ea typeface="Cambria" pitchFamily="34" charset="-122"/>
                <a:cs typeface="Cambria" pitchFamily="34" charset="-120"/>
              </a:rPr>
              <a:t>6</a:t>
            </a:r>
            <a:endParaRPr lang="en-US" sz="2600" dirty="0"/>
          </a:p>
        </p:txBody>
      </p:sp>
      <p:sp>
        <p:nvSpPr>
          <p:cNvPr id="31" name="Text 24"/>
          <p:cNvSpPr/>
          <p:nvPr/>
        </p:nvSpPr>
        <p:spPr>
          <a:xfrm>
            <a:off x="10058400" y="3291840"/>
            <a:ext cx="132588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View Report</a:t>
            </a:r>
            <a:endParaRPr lang="en-US" sz="1400" dirty="0"/>
          </a:p>
        </p:txBody>
      </p:sp>
      <p:sp>
        <p:nvSpPr>
          <p:cNvPr id="32" name="Text 25"/>
          <p:cNvSpPr/>
          <p:nvPr/>
        </p:nvSpPr>
        <p:spPr>
          <a:xfrm>
            <a:off x="10058400" y="3749040"/>
            <a:ext cx="1325880" cy="1188720"/>
          </a:xfrm>
          <a:prstGeom prst="rect">
            <a:avLst/>
          </a:prstGeom>
          <a:noFill/>
          <a:ln/>
        </p:spPr>
        <p:txBody>
          <a:bodyPr wrap="square" lIns="0" tIns="0" rIns="0" bIns="0" rtlCol="0" anchor="ctr"/>
          <a:lstStyle/>
          <a:p>
            <a:pPr indent="0" marL="0">
              <a:lnSpc>
                <a:spcPct val="110000"/>
              </a:lnSpc>
              <a:buNone/>
            </a:pPr>
            <a:r>
              <a:rPr lang="en-US" sz="1100" dirty="0">
                <a:solidFill>
                  <a:srgbClr val="E4EEF3"/>
                </a:solidFill>
                <a:latin typeface="Calibri" pitchFamily="34" charset="0"/>
                <a:ea typeface="Calibri" pitchFamily="34" charset="-122"/>
                <a:cs typeface="Calibri" pitchFamily="34" charset="-120"/>
              </a:rPr>
              <a:t>Show the consolidated report view</a:t>
            </a:r>
            <a:endParaRPr lang="en-US" sz="1100" dirty="0"/>
          </a:p>
        </p:txBody>
      </p:sp>
      <p:sp>
        <p:nvSpPr>
          <p:cNvPr id="33" name="Text 26"/>
          <p:cNvSpPr/>
          <p:nvPr/>
        </p:nvSpPr>
        <p:spPr>
          <a:xfrm>
            <a:off x="640080" y="5349240"/>
            <a:ext cx="10881360" cy="365760"/>
          </a:xfrm>
          <a:prstGeom prst="rect">
            <a:avLst/>
          </a:prstGeom>
          <a:noFill/>
          <a:ln/>
        </p:spPr>
        <p:txBody>
          <a:bodyPr wrap="square" lIns="0" tIns="0" rIns="0" bIns="0" rtlCol="0" anchor="ctr"/>
          <a:lstStyle/>
          <a:p>
            <a:pPr indent="0" marL="0">
              <a:buNone/>
            </a:pPr>
            <a:r>
              <a:rPr lang="en-US" sz="1250" i="1" dirty="0">
                <a:solidFill>
                  <a:srgbClr val="5A7184"/>
                </a:solidFill>
                <a:latin typeface="Calibri" pitchFamily="34" charset="0"/>
                <a:ea typeface="Calibri" pitchFamily="34" charset="-122"/>
                <a:cs typeface="Calibri" pitchFamily="34" charset="-120"/>
              </a:rPr>
              <a:t>Swagger UI is available at /swagger to demonstrate the raw API endpoints directly, if requested.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95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869680" y="1645920"/>
            <a:ext cx="3657600" cy="3657600"/>
          </a:xfrm>
          <a:prstGeom prst="rect">
            <a:avLst/>
          </a:prstGeom>
        </p:spPr>
      </p:pic>
      <p:pic>
        <p:nvPicPr>
          <p:cNvPr id="3" name="Image 1" descr="preencoded.png">    </p:cNvPr>
          <p:cNvPicPr>
            <a:picLocks noChangeAspect="1"/>
          </p:cNvPicPr>
          <p:nvPr/>
        </p:nvPicPr>
        <p:blipFill>
          <a:blip r:embed="rId2"/>
          <a:stretch>
            <a:fillRect/>
          </a:stretch>
        </p:blipFill>
        <p:spPr>
          <a:xfrm>
            <a:off x="822960" y="2377440"/>
            <a:ext cx="640080" cy="640080"/>
          </a:xfrm>
          <a:prstGeom prst="rect">
            <a:avLst/>
          </a:prstGeom>
        </p:spPr>
      </p:pic>
      <p:sp>
        <p:nvSpPr>
          <p:cNvPr id="4" name="Text 0"/>
          <p:cNvSpPr/>
          <p:nvPr/>
        </p:nvSpPr>
        <p:spPr>
          <a:xfrm>
            <a:off x="1600200" y="2331720"/>
            <a:ext cx="64008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1"/>
          <p:cNvSpPr/>
          <p:nvPr/>
        </p:nvSpPr>
        <p:spPr>
          <a:xfrm>
            <a:off x="822960" y="3383280"/>
            <a:ext cx="7315200" cy="548640"/>
          </a:xfrm>
          <a:prstGeom prst="rect">
            <a:avLst/>
          </a:prstGeom>
          <a:noFill/>
          <a:ln/>
        </p:spPr>
        <p:txBody>
          <a:bodyPr wrap="square" lIns="0" tIns="0" rIns="0" bIns="0" rtlCol="0" anchor="ctr"/>
          <a:lstStyle/>
          <a:p>
            <a:pPr indent="0" marL="0">
              <a:buNone/>
            </a:pPr>
            <a:r>
              <a:rPr lang="en-US" sz="1800" dirty="0">
                <a:solidFill>
                  <a:srgbClr val="C7DCE6"/>
                </a:solidFill>
                <a:latin typeface="Calibri" pitchFamily="34" charset="0"/>
                <a:ea typeface="Calibri" pitchFamily="34" charset="-122"/>
                <a:cs typeface="Calibri" pitchFamily="34" charset="-120"/>
              </a:rPr>
              <a:t>Questions &amp; Discussion</a:t>
            </a:r>
            <a:endParaRPr lang="en-US" sz="1800" dirty="0"/>
          </a:p>
        </p:txBody>
      </p:sp>
      <p:sp>
        <p:nvSpPr>
          <p:cNvPr id="6" name="Text 2"/>
          <p:cNvSpPr/>
          <p:nvPr/>
        </p:nvSpPr>
        <p:spPr>
          <a:xfrm>
            <a:off x="822960" y="5989320"/>
            <a:ext cx="8229600" cy="457200"/>
          </a:xfrm>
          <a:prstGeom prst="rect">
            <a:avLst/>
          </a:prstGeom>
          <a:noFill/>
          <a:ln/>
        </p:spPr>
        <p:txBody>
          <a:bodyPr wrap="square" lIns="0" tIns="0" rIns="0" bIns="0" rtlCol="0" anchor="ctr"/>
          <a:lstStyle/>
          <a:p>
            <a:pPr indent="0" marL="0">
              <a:buNone/>
            </a:pPr>
            <a:r>
              <a:rPr lang="en-US" sz="1250" dirty="0">
                <a:solidFill>
                  <a:srgbClr val="8FA9BA"/>
                </a:solidFill>
                <a:latin typeface="Calibri" pitchFamily="34" charset="0"/>
                <a:ea typeface="Calibri" pitchFamily="34" charset="-122"/>
                <a:cs typeface="Calibri" pitchFamily="34" charset="-120"/>
              </a:rPr>
              <a:t>Seaport Management System  •  React 19 + ASP.NET Core 8 + SQL Server</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Seaport Management System</dc:title>
  <dc:subject>PptxGenJS Presentation</dc:subject>
  <dc:creator>Seaport MS Team</dc:creator>
  <cp:lastModifiedBy>Seaport MS Team</cp:lastModifiedBy>
  <cp:revision>1</cp:revision>
  <dcterms:created xsi:type="dcterms:W3CDTF">2026-07-03T18:11:36Z</dcterms:created>
  <dcterms:modified xsi:type="dcterms:W3CDTF">2026-07-03T18:11:36Z</dcterms:modified>
</cp:coreProperties>
</file>